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900725" cy="32918400"/>
  <p:notesSz cx="32918400" cy="439007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9357ADD-8C71-E3CC-D7D5-C9DEE75DD5DE}" name="Junho Park" initials="JP" userId="S::junho.park@ucalgary.ca::f33bb95d-ff5a-44f3-828f-1d8173f0876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481600-BC2A-E046-D434-E903E86C6EEF}" v="41" dt="2026-03-27T03:59:19.004"/>
    <p1510:client id="{A2543445-756E-934E-80DE-233152BD29E2}" v="287" dt="2026-03-27T03:11:16.720"/>
    <p1510:client id="{B40FFFB7-3DB4-BF05-474C-099FE44A938B}" v="19" dt="2026-03-27T01:36:00.922"/>
    <p1510:client id="{BC317686-860B-F742-BA7E-3941289E0B75}" v="2" dt="2026-03-27T04:00:52.130"/>
    <p1510:client id="{D82ED33F-43E0-9923-C628-62475C054F2F}" v="4" dt="2026-03-26T04:14:13.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825434E1-6403-40FA-8F05-02BC342E5E0B}" authorId="{F9357ADD-8C71-E3CC-D7D5-C9DEE75DD5DE}" created="2026-03-27T01:28:53.748">
    <ac:deMkLst xmlns:ac="http://schemas.microsoft.com/office/drawing/2013/main/command">
      <pc:docMk xmlns:pc="http://schemas.microsoft.com/office/powerpoint/2013/main/command"/>
      <pc:sldMk xmlns:pc="http://schemas.microsoft.com/office/powerpoint/2013/main/command" cId="0" sldId="256"/>
      <ac:picMk id="1026" creationId="{78D2F20F-EBC5-7564-E1B6-8FF6B2D52F0D}"/>
    </ac:deMkLst>
    <p188:txBody>
      <a:bodyPr/>
      <a:lstStyle/>
      <a:p>
        <a:r>
          <a:rPr lang="en-US"/>
          <a:t>Make this image to its original size (no landscape-strech). Add one more photo of nice looking CARLA image.</a:t>
        </a:r>
      </a:p>
    </p188:txBody>
  </p188:cm>
  <p188:cm id="{97CA3DC5-35E2-4059-8F58-B7FD8208D3BA}" authorId="{F9357ADD-8C71-E3CC-D7D5-C9DEE75DD5DE}" created="2026-03-27T01:30:10.669">
    <ac:deMkLst xmlns:ac="http://schemas.microsoft.com/office/drawing/2013/main/command">
      <pc:docMk xmlns:pc="http://schemas.microsoft.com/office/powerpoint/2013/main/command"/>
      <pc:sldMk xmlns:pc="http://schemas.microsoft.com/office/powerpoint/2013/main/command" cId="0" sldId="256"/>
      <ac:spMk id="138" creationId="{00000000-0000-0000-0000-000000000000}"/>
    </ac:deMkLst>
    <p188:txBody>
      <a:bodyPr/>
      <a:lstStyle/>
      <a:p>
        <a:r>
          <a:rPr lang="en-US"/>
          <a:t>It would be much better if you use a bar graph... to show the improvement... not like this text...</a:t>
        </a:r>
      </a:p>
    </p188:txBody>
  </p188:cm>
  <p188:cm id="{A7FA6476-3AA5-4DE9-8E45-A89C3C244591}" authorId="{F9357ADD-8C71-E3CC-D7D5-C9DEE75DD5DE}" created="2026-03-27T01:31:28.466">
    <ac:deMkLst xmlns:ac="http://schemas.microsoft.com/office/drawing/2013/main/command">
      <pc:docMk xmlns:pc="http://schemas.microsoft.com/office/powerpoint/2013/main/command"/>
      <pc:sldMk xmlns:pc="http://schemas.microsoft.com/office/powerpoint/2013/main/command" cId="0" sldId="256"/>
      <ac:spMk id="6" creationId="{00000000-0000-0000-0000-000000000000}"/>
    </ac:deMkLst>
    <p188:txBody>
      <a:bodyPr/>
      <a:lstStyle/>
      <a:p>
        <a:r>
          <a:rPr lang="en-US"/>
          <a:t>Overall, try to use visuals (photos, images, screenshots, graphs...) rather than texts... (I know it is easy to make it from chatbots... TEXTS).
Try ... Google AI? Google Studio? They recently released super powerful figure generation app... for research... </a:t>
        </a:r>
      </a:p>
    </p188:txBody>
  </p188:cm>
  <p188:cm id="{419548F5-64E2-40A1-85CE-705FB677ACDA}" authorId="{F9357ADD-8C71-E3CC-D7D5-C9DEE75DD5DE}" created="2026-03-27T01:32:28.856">
    <ac:txMkLst xmlns:ac="http://schemas.microsoft.com/office/drawing/2013/main/command">
      <pc:docMk xmlns:pc="http://schemas.microsoft.com/office/powerpoint/2013/main/command"/>
      <pc:sldMk xmlns:pc="http://schemas.microsoft.com/office/powerpoint/2013/main/command" cId="0" sldId="256"/>
      <ac:spMk id="63" creationId="{00000000-0000-0000-0000-000000000000}"/>
      <ac:txMk cp="2" len="474">
        <ac:context len="477" hash="313557553"/>
      </ac:txMk>
    </ac:txMkLst>
    <p188:pos x="15229040" y="8441760"/>
    <p188:txBody>
      <a:bodyPr/>
      <a:lstStyle/>
      <a:p>
        <a:r>
          <a:rPr lang="en-US"/>
          <a:t>people do not want to read all of these texts... go to amputee coalition website... and find the latest visual graphic... they have super great 1-pager graphics with pictogram... which you can also use...</a:t>
        </a:r>
      </a:p>
    </p188:txBody>
  </p188:cm>
  <p188:cm id="{E9DC0F8F-34FD-4744-B966-41C1D7212227}" authorId="{F9357ADD-8C71-E3CC-D7D5-C9DEE75DD5DE}" created="2026-03-27T01:34:32.641">
    <ac:deMkLst xmlns:ac="http://schemas.microsoft.com/office/drawing/2013/main/command">
      <pc:docMk xmlns:pc="http://schemas.microsoft.com/office/powerpoint/2013/main/command"/>
      <pc:sldMk xmlns:pc="http://schemas.microsoft.com/office/powerpoint/2013/main/command" cId="0" sldId="256"/>
      <ac:picMk id="4" creationId="{00000000-0000-0000-0000-000000000000}"/>
    </ac:deMkLst>
    <p188:txBody>
      <a:bodyPr/>
      <a:lstStyle/>
      <a:p>
        <a:r>
          <a:rPr lang="en-US"/>
          <a:t>Talk with Hannah, as they will make a new logo?...</a:t>
        </a:r>
      </a:p>
    </p188:txBody>
  </p188:cm>
  <p188:cm id="{AE171311-D977-4113-83B0-B3C051233562}" authorId="{F9357ADD-8C71-E3CC-D7D5-C9DEE75DD5DE}" created="2026-03-27T01:35:13.782">
    <ac:deMkLst xmlns:ac="http://schemas.microsoft.com/office/drawing/2013/main/command">
      <pc:docMk xmlns:pc="http://schemas.microsoft.com/office/powerpoint/2013/main/command"/>
      <pc:sldMk xmlns:pc="http://schemas.microsoft.com/office/powerpoint/2013/main/command" cId="0" sldId="256"/>
      <ac:spMk id="34" creationId="{00000000-0000-0000-0000-000000000000}"/>
    </ac:deMkLst>
    <p188:txBody>
      <a:bodyPr/>
      <a:lstStyle/>
      <a:p>
        <a:r>
          <a:rPr lang="en-US"/>
          <a:t>Having this tiny fonts ... is one of the indications of using chatbots... although I am ok, it is too small..</a:t>
        </a:r>
      </a:p>
    </p188:txBody>
  </p188:cm>
  <p188:cm id="{3DF667C2-88ED-4954-A6E1-C2FA08CFB897}" authorId="{F9357ADD-8C71-E3CC-D7D5-C9DEE75DD5DE}" created="2026-03-27T01:36:00.922">
    <ac:deMkLst xmlns:ac="http://schemas.microsoft.com/office/drawing/2013/main/command">
      <pc:docMk xmlns:pc="http://schemas.microsoft.com/office/powerpoint/2013/main/command"/>
      <pc:sldMk xmlns:pc="http://schemas.microsoft.com/office/powerpoint/2013/main/command" cId="0" sldId="256"/>
      <ac:spMk id="6" creationId="{00000000-0000-0000-0000-000000000000}"/>
    </ac:deMkLst>
    <p188:txBody>
      <a:bodyPr/>
      <a:lstStyle/>
      <a:p>
        <a:r>
          <a:rPr lang="en-US"/>
          <a:t>Overall, current version of the poster is too low quality... please fully redesign and let me know again for review</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44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eg"/><Relationship Id="rId3" Type="http://schemas.microsoft.com/office/2018/10/relationships/comments" Target="../comments/modernComment_100_0.xml"/><Relationship Id="rId7" Type="http://schemas.openxmlformats.org/officeDocument/2006/relationships/image" Target="../media/image4.jp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jpeg"/><Relationship Id="rId5" Type="http://schemas.openxmlformats.org/officeDocument/2006/relationships/image" Target="../media/image2.jpg"/><Relationship Id="rId10" Type="http://schemas.openxmlformats.org/officeDocument/2006/relationships/image" Target="../media/image7.jpeg"/><Relationship Id="rId4" Type="http://schemas.openxmlformats.org/officeDocument/2006/relationships/image" Target="../media/image1.jpg"/><Relationship Id="rId9"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template_media/image3.jpg"/>
          <p:cNvPicPr>
            <a:picLocks noChangeAspect="1"/>
          </p:cNvPicPr>
          <p:nvPr/>
        </p:nvPicPr>
        <p:blipFill>
          <a:blip r:embed="rId4"/>
          <a:stretch>
            <a:fillRect/>
          </a:stretch>
        </p:blipFill>
        <p:spPr>
          <a:xfrm>
            <a:off x="0" y="1878371"/>
            <a:ext cx="5163780" cy="830747"/>
          </a:xfrm>
          <a:prstGeom prst="rect">
            <a:avLst/>
          </a:prstGeom>
        </p:spPr>
      </p:pic>
      <p:pic>
        <p:nvPicPr>
          <p:cNvPr id="3" name="Image 1" descr="/mnt/data/template_media/image4.jpg"/>
          <p:cNvPicPr>
            <a:picLocks noChangeAspect="1"/>
          </p:cNvPicPr>
          <p:nvPr/>
        </p:nvPicPr>
        <p:blipFill>
          <a:blip r:embed="rId5"/>
          <a:stretch>
            <a:fillRect/>
          </a:stretch>
        </p:blipFill>
        <p:spPr>
          <a:xfrm>
            <a:off x="35112960" y="29560943"/>
            <a:ext cx="8869680" cy="2874433"/>
          </a:xfrm>
          <a:prstGeom prst="rect">
            <a:avLst/>
          </a:prstGeom>
        </p:spPr>
      </p:pic>
      <p:pic>
        <p:nvPicPr>
          <p:cNvPr id="4" name="Image 2" descr="/mnt/data/hero_media/image1.png"/>
          <p:cNvPicPr>
            <a:picLocks noChangeAspect="1"/>
          </p:cNvPicPr>
          <p:nvPr/>
        </p:nvPicPr>
        <p:blipFill>
          <a:blip r:embed="rId6"/>
          <a:stretch>
            <a:fillRect/>
          </a:stretch>
        </p:blipFill>
        <p:spPr>
          <a:xfrm>
            <a:off x="2138720" y="320040"/>
            <a:ext cx="1574721" cy="1554480"/>
          </a:xfrm>
          <a:prstGeom prst="rect">
            <a:avLst/>
          </a:prstGeom>
        </p:spPr>
      </p:pic>
      <p:pic>
        <p:nvPicPr>
          <p:cNvPr id="5" name="Image 3" descr="/mnt/data/template_media/image5.jpg"/>
          <p:cNvPicPr>
            <a:picLocks noChangeAspect="1"/>
          </p:cNvPicPr>
          <p:nvPr/>
        </p:nvPicPr>
        <p:blipFill>
          <a:blip r:embed="rId7"/>
          <a:stretch>
            <a:fillRect/>
          </a:stretch>
        </p:blipFill>
        <p:spPr>
          <a:xfrm>
            <a:off x="37399145" y="274320"/>
            <a:ext cx="3840110" cy="2011680"/>
          </a:xfrm>
          <a:prstGeom prst="rect">
            <a:avLst/>
          </a:prstGeom>
        </p:spPr>
      </p:pic>
      <p:sp>
        <p:nvSpPr>
          <p:cNvPr id="6" name="Text 0"/>
          <p:cNvSpPr/>
          <p:nvPr/>
        </p:nvSpPr>
        <p:spPr>
          <a:xfrm>
            <a:off x="5239512" y="3966"/>
            <a:ext cx="29809440" cy="1325880"/>
          </a:xfrm>
          <a:prstGeom prst="rect">
            <a:avLst/>
          </a:prstGeom>
          <a:noFill/>
          <a:ln/>
        </p:spPr>
        <p:txBody>
          <a:bodyPr wrap="square" lIns="0" tIns="0" rIns="0" bIns="0" rtlCol="0" anchor="t"/>
          <a:lstStyle/>
          <a:p>
            <a:pPr marL="0" indent="0">
              <a:buNone/>
            </a:pPr>
            <a:r>
              <a:rPr lang="en-US" sz="4000" b="1">
                <a:solidFill>
                  <a:srgbClr val="9E1C21"/>
                </a:solidFill>
                <a:latin typeface="Times New Roman" pitchFamily="34" charset="0"/>
                <a:ea typeface="Times New Roman" pitchFamily="34" charset="-122"/>
                <a:cs typeface="Times New Roman" pitchFamily="34" charset="-120"/>
              </a:rPr>
              <a:t>Investigation of Characteristics of Two-Handed Interactions</a:t>
            </a:r>
            <a:endParaRPr lang="en-US" sz="4000"/>
          </a:p>
          <a:p>
            <a:r>
              <a:rPr lang="en-US" sz="4000" b="1">
                <a:solidFill>
                  <a:srgbClr val="9E1C21"/>
                </a:solidFill>
                <a:latin typeface="Times New Roman"/>
                <a:ea typeface="Times New Roman" pitchFamily="34" charset="-122"/>
                <a:cs typeface="Times New Roman"/>
              </a:rPr>
              <a:t>with AI-Powered Electromyography (EMG) Sensors</a:t>
            </a:r>
            <a:endParaRPr lang="en-US" sz="4000"/>
          </a:p>
        </p:txBody>
      </p:sp>
      <p:sp>
        <p:nvSpPr>
          <p:cNvPr id="7" name="Text 1"/>
          <p:cNvSpPr/>
          <p:nvPr/>
        </p:nvSpPr>
        <p:spPr>
          <a:xfrm>
            <a:off x="5303520" y="1290109"/>
            <a:ext cx="29077920" cy="347472"/>
          </a:xfrm>
          <a:prstGeom prst="rect">
            <a:avLst/>
          </a:prstGeom>
          <a:noFill/>
          <a:ln/>
        </p:spPr>
        <p:txBody>
          <a:bodyPr wrap="square" lIns="0" tIns="0" rIns="0" bIns="0" rtlCol="0" anchor="t"/>
          <a:lstStyle/>
          <a:p>
            <a:pPr marL="0" indent="0">
              <a:buNone/>
            </a:pPr>
            <a:r>
              <a:rPr lang="en-US" sz="3200" i="1">
                <a:solidFill>
                  <a:srgbClr val="1E1E1E"/>
                </a:solidFill>
                <a:latin typeface="Times New Roman" pitchFamily="34" charset="0"/>
                <a:ea typeface="Times New Roman" pitchFamily="34" charset="-122"/>
                <a:cs typeface="Times New Roman" pitchFamily="34" charset="-120"/>
              </a:rPr>
              <a:t>ENEL 500 Capstone Design Project  |  Team #4  |  HERO Lab  |  Schulich School of Engineering, University of Calgary</a:t>
            </a:r>
            <a:endParaRPr lang="en-US" sz="3200"/>
          </a:p>
        </p:txBody>
      </p:sp>
      <p:sp>
        <p:nvSpPr>
          <p:cNvPr id="8" name="Text 2"/>
          <p:cNvSpPr/>
          <p:nvPr/>
        </p:nvSpPr>
        <p:spPr>
          <a:xfrm>
            <a:off x="5376672" y="1901952"/>
            <a:ext cx="29535120" cy="658368"/>
          </a:xfrm>
          <a:prstGeom prst="rect">
            <a:avLst/>
          </a:prstGeom>
          <a:noFill/>
          <a:ln/>
        </p:spPr>
        <p:txBody>
          <a:bodyPr wrap="square" lIns="0" tIns="0" rIns="0" bIns="0" rtlCol="0" anchor="t"/>
          <a:lstStyle/>
          <a:p>
            <a:pPr marL="0" indent="0">
              <a:buNone/>
            </a:pPr>
            <a:r>
              <a:rPr lang="en-US" sz="3600">
                <a:solidFill>
                  <a:srgbClr val="1E1E1E"/>
                </a:solidFill>
                <a:latin typeface="Times New Roman" pitchFamily="34" charset="0"/>
                <a:ea typeface="Times New Roman" pitchFamily="34" charset="-122"/>
                <a:cs typeface="Times New Roman" pitchFamily="34" charset="-120"/>
              </a:rPr>
              <a:t>Iggy Abi-Abiola (Project Manager)  |  Ziad Shamma  |  Matthew Nechita</a:t>
            </a:r>
            <a:endParaRPr lang="en-US" sz="3600"/>
          </a:p>
          <a:p>
            <a:pPr marL="0" indent="0">
              <a:buNone/>
            </a:pPr>
            <a:r>
              <a:rPr lang="en-US" sz="3600">
                <a:solidFill>
                  <a:srgbClr val="1E1E1E"/>
                </a:solidFill>
                <a:latin typeface="Times New Roman" pitchFamily="34" charset="0"/>
                <a:ea typeface="Times New Roman" pitchFamily="34" charset="-122"/>
                <a:cs typeface="Times New Roman" pitchFamily="34" charset="-120"/>
              </a:rPr>
              <a:t>Sponsor: Dr. Junho Park  |  Academic Advisor: Mohamed Helaoui  |  Support Technician: Allynne Casilan</a:t>
            </a:r>
            <a:endParaRPr lang="en-US" sz="3600"/>
          </a:p>
        </p:txBody>
      </p:sp>
      <p:sp>
        <p:nvSpPr>
          <p:cNvPr id="10" name="Shape 4"/>
          <p:cNvSpPr/>
          <p:nvPr/>
        </p:nvSpPr>
        <p:spPr>
          <a:xfrm>
            <a:off x="1005840" y="3063240"/>
            <a:ext cx="8001000" cy="1645920"/>
          </a:xfrm>
          <a:prstGeom prst="roundRect">
            <a:avLst>
              <a:gd name="adj" fmla="val 3333"/>
            </a:avLst>
          </a:prstGeom>
          <a:solidFill>
            <a:srgbClr val="FFF6E8"/>
          </a:solidFill>
          <a:ln w="12700">
            <a:solidFill>
              <a:srgbClr val="F5A623"/>
            </a:solidFill>
            <a:prstDash val="solid"/>
          </a:ln>
        </p:spPr>
        <p:txBody>
          <a:bodyPr/>
          <a:lstStyle/>
          <a:p>
            <a:endParaRPr lang="en-US" sz="1600"/>
          </a:p>
        </p:txBody>
      </p:sp>
      <p:sp>
        <p:nvSpPr>
          <p:cNvPr id="11" name="Text 5"/>
          <p:cNvSpPr/>
          <p:nvPr/>
        </p:nvSpPr>
        <p:spPr>
          <a:xfrm>
            <a:off x="1078992" y="3103341"/>
            <a:ext cx="7854696" cy="566928"/>
          </a:xfrm>
          <a:prstGeom prst="rect">
            <a:avLst/>
          </a:prstGeom>
          <a:noFill/>
          <a:ln/>
        </p:spPr>
        <p:txBody>
          <a:bodyPr wrap="square" lIns="0" tIns="0" rIns="0" bIns="0" rtlCol="0" anchor="t"/>
          <a:lstStyle/>
          <a:p>
            <a:pPr marL="0" indent="0" algn="ctr">
              <a:buNone/>
            </a:pPr>
            <a:r>
              <a:rPr lang="en-US" sz="4000" b="1">
                <a:solidFill>
                  <a:srgbClr val="9E1C21"/>
                </a:solidFill>
                <a:latin typeface="Times New Roman" pitchFamily="34" charset="0"/>
                <a:ea typeface="Times New Roman" pitchFamily="34" charset="-122"/>
                <a:cs typeface="Times New Roman" pitchFamily="34" charset="-120"/>
              </a:rPr>
              <a:t>33</a:t>
            </a:r>
            <a:endParaRPr lang="en-US" sz="4000"/>
          </a:p>
        </p:txBody>
      </p:sp>
      <p:sp>
        <p:nvSpPr>
          <p:cNvPr id="12" name="Text 6"/>
          <p:cNvSpPr/>
          <p:nvPr/>
        </p:nvSpPr>
        <p:spPr>
          <a:xfrm>
            <a:off x="1133856" y="3611145"/>
            <a:ext cx="7781544" cy="384048"/>
          </a:xfrm>
          <a:prstGeom prst="rect">
            <a:avLst/>
          </a:prstGeom>
          <a:noFill/>
          <a:ln/>
        </p:spPr>
        <p:txBody>
          <a:bodyPr wrap="square" lIns="0" tIns="0" rIns="0" bIns="0" rtlCol="0" anchor="t"/>
          <a:lstStyle/>
          <a:p>
            <a:pPr marL="0" indent="0" algn="ctr">
              <a:buNone/>
            </a:pPr>
            <a:r>
              <a:rPr lang="en-US" sz="3600" b="1">
                <a:solidFill>
                  <a:srgbClr val="1E1E1E"/>
                </a:solidFill>
                <a:latin typeface="Times New Roman" pitchFamily="34" charset="0"/>
                <a:ea typeface="Times New Roman" pitchFamily="34" charset="-122"/>
                <a:cs typeface="Times New Roman" pitchFamily="34" charset="-120"/>
              </a:rPr>
              <a:t>strict EMG channels</a:t>
            </a:r>
            <a:endParaRPr lang="en-US" sz="3600"/>
          </a:p>
        </p:txBody>
      </p:sp>
      <p:sp>
        <p:nvSpPr>
          <p:cNvPr id="13" name="Text 7"/>
          <p:cNvSpPr/>
          <p:nvPr/>
        </p:nvSpPr>
        <p:spPr>
          <a:xfrm>
            <a:off x="1152144" y="4123944"/>
            <a:ext cx="7708392" cy="512064"/>
          </a:xfrm>
          <a:prstGeom prst="rect">
            <a:avLst/>
          </a:prstGeom>
          <a:noFill/>
          <a:ln/>
        </p:spPr>
        <p:txBody>
          <a:bodyPr wrap="square" lIns="0" tIns="0" rIns="0" bIns="0" rtlCol="0" anchor="t"/>
          <a:lstStyle/>
          <a:p>
            <a:pPr marL="0" indent="0" algn="ctr">
              <a:buNone/>
            </a:pPr>
            <a:r>
              <a:rPr lang="en-US" sz="3200">
                <a:solidFill>
                  <a:srgbClr val="666666"/>
                </a:solidFill>
                <a:latin typeface="Times New Roman" pitchFamily="34" charset="0"/>
                <a:ea typeface="Times New Roman" pitchFamily="34" charset="-122"/>
                <a:cs typeface="Times New Roman" pitchFamily="34" charset="-120"/>
              </a:rPr>
              <a:t>17 right-arm + 16 left-arm channels</a:t>
            </a:r>
            <a:endParaRPr lang="en-US" sz="3200"/>
          </a:p>
        </p:txBody>
      </p:sp>
      <p:sp>
        <p:nvSpPr>
          <p:cNvPr id="14" name="Shape 8"/>
          <p:cNvSpPr/>
          <p:nvPr/>
        </p:nvSpPr>
        <p:spPr>
          <a:xfrm>
            <a:off x="9464040" y="3063240"/>
            <a:ext cx="8001000" cy="1645920"/>
          </a:xfrm>
          <a:prstGeom prst="roundRect">
            <a:avLst>
              <a:gd name="adj" fmla="val 3333"/>
            </a:avLst>
          </a:prstGeom>
          <a:solidFill>
            <a:srgbClr val="FFF6E8"/>
          </a:solidFill>
          <a:ln w="12700">
            <a:solidFill>
              <a:srgbClr val="F5A623"/>
            </a:solidFill>
            <a:prstDash val="solid"/>
          </a:ln>
        </p:spPr>
        <p:txBody>
          <a:bodyPr/>
          <a:lstStyle/>
          <a:p>
            <a:endParaRPr lang="en-US" sz="4000"/>
          </a:p>
        </p:txBody>
      </p:sp>
      <p:sp>
        <p:nvSpPr>
          <p:cNvPr id="15" name="Text 9"/>
          <p:cNvSpPr/>
          <p:nvPr/>
        </p:nvSpPr>
        <p:spPr>
          <a:xfrm>
            <a:off x="9472874" y="3092842"/>
            <a:ext cx="7854696" cy="566928"/>
          </a:xfrm>
          <a:prstGeom prst="rect">
            <a:avLst/>
          </a:prstGeom>
          <a:noFill/>
          <a:ln/>
        </p:spPr>
        <p:txBody>
          <a:bodyPr wrap="square" lIns="0" tIns="0" rIns="0" bIns="0" rtlCol="0" anchor="t"/>
          <a:lstStyle/>
          <a:p>
            <a:pPr marL="0" indent="0" algn="ctr">
              <a:buNone/>
            </a:pPr>
            <a:r>
              <a:rPr lang="en-US" sz="4000" b="1">
                <a:solidFill>
                  <a:srgbClr val="9E1C21"/>
                </a:solidFill>
                <a:latin typeface="Times New Roman" pitchFamily="34" charset="0"/>
                <a:ea typeface="Times New Roman" pitchFamily="34" charset="-122"/>
                <a:cs typeface="Times New Roman" pitchFamily="34" charset="-120"/>
              </a:rPr>
              <a:t>2000 Hz</a:t>
            </a:r>
            <a:endParaRPr lang="en-US" sz="4000"/>
          </a:p>
        </p:txBody>
      </p:sp>
      <p:sp>
        <p:nvSpPr>
          <p:cNvPr id="16" name="Text 10"/>
          <p:cNvSpPr/>
          <p:nvPr/>
        </p:nvSpPr>
        <p:spPr>
          <a:xfrm>
            <a:off x="9509450" y="3536326"/>
            <a:ext cx="7781544" cy="384048"/>
          </a:xfrm>
          <a:prstGeom prst="rect">
            <a:avLst/>
          </a:prstGeom>
          <a:noFill/>
          <a:ln/>
        </p:spPr>
        <p:txBody>
          <a:bodyPr wrap="square" lIns="0" tIns="0" rIns="0" bIns="0" rtlCol="0" anchor="t"/>
          <a:lstStyle/>
          <a:p>
            <a:pPr marL="0" indent="0" algn="ctr">
              <a:buNone/>
            </a:pPr>
            <a:r>
              <a:rPr lang="en-US" sz="3600" b="1">
                <a:solidFill>
                  <a:srgbClr val="1E1E1E"/>
                </a:solidFill>
                <a:latin typeface="Times New Roman" pitchFamily="34" charset="0"/>
                <a:ea typeface="Times New Roman" pitchFamily="34" charset="-122"/>
                <a:cs typeface="Times New Roman" pitchFamily="34" charset="-120"/>
              </a:rPr>
              <a:t>shared resampled time base</a:t>
            </a:r>
            <a:endParaRPr lang="en-US" sz="3600"/>
          </a:p>
        </p:txBody>
      </p:sp>
      <p:sp>
        <p:nvSpPr>
          <p:cNvPr id="17" name="Text 11"/>
          <p:cNvSpPr/>
          <p:nvPr/>
        </p:nvSpPr>
        <p:spPr>
          <a:xfrm>
            <a:off x="9610344" y="4078224"/>
            <a:ext cx="7872984" cy="512064"/>
          </a:xfrm>
          <a:prstGeom prst="rect">
            <a:avLst/>
          </a:prstGeom>
          <a:noFill/>
          <a:ln/>
        </p:spPr>
        <p:txBody>
          <a:bodyPr wrap="square" lIns="0" tIns="0" rIns="0" bIns="0" rtlCol="0" anchor="t"/>
          <a:lstStyle/>
          <a:p>
            <a:pPr marL="0" indent="0" algn="ctr">
              <a:buNone/>
            </a:pPr>
            <a:r>
              <a:rPr lang="en-US" sz="3200">
                <a:solidFill>
                  <a:srgbClr val="666666"/>
                </a:solidFill>
                <a:latin typeface="Times New Roman" pitchFamily="34" charset="0"/>
                <a:ea typeface="Times New Roman" pitchFamily="34" charset="-122"/>
                <a:cs typeface="Times New Roman" pitchFamily="34" charset="-120"/>
              </a:rPr>
              <a:t>Matched offline and realtime preprocessing</a:t>
            </a:r>
            <a:endParaRPr lang="en-US" sz="3200"/>
          </a:p>
        </p:txBody>
      </p:sp>
      <p:sp>
        <p:nvSpPr>
          <p:cNvPr id="18" name="Shape 12"/>
          <p:cNvSpPr/>
          <p:nvPr/>
        </p:nvSpPr>
        <p:spPr>
          <a:xfrm>
            <a:off x="17922240" y="3063240"/>
            <a:ext cx="8001000" cy="1645920"/>
          </a:xfrm>
          <a:prstGeom prst="roundRect">
            <a:avLst>
              <a:gd name="adj" fmla="val 3333"/>
            </a:avLst>
          </a:prstGeom>
          <a:solidFill>
            <a:srgbClr val="FFF6E8"/>
          </a:solidFill>
          <a:ln w="12700">
            <a:solidFill>
              <a:srgbClr val="F5A623"/>
            </a:solidFill>
            <a:prstDash val="solid"/>
          </a:ln>
        </p:spPr>
        <p:txBody>
          <a:bodyPr/>
          <a:lstStyle/>
          <a:p>
            <a:endParaRPr lang="en-US"/>
          </a:p>
        </p:txBody>
      </p:sp>
      <p:sp>
        <p:nvSpPr>
          <p:cNvPr id="19" name="Text 13"/>
          <p:cNvSpPr/>
          <p:nvPr/>
        </p:nvSpPr>
        <p:spPr>
          <a:xfrm>
            <a:off x="17958816" y="3103880"/>
            <a:ext cx="7854696" cy="566928"/>
          </a:xfrm>
          <a:prstGeom prst="rect">
            <a:avLst/>
          </a:prstGeom>
          <a:noFill/>
          <a:ln/>
        </p:spPr>
        <p:txBody>
          <a:bodyPr wrap="square" lIns="0" tIns="0" rIns="0" bIns="0" rtlCol="0" anchor="t"/>
          <a:lstStyle/>
          <a:p>
            <a:pPr marL="0" indent="0" algn="ctr">
              <a:buNone/>
            </a:pPr>
            <a:r>
              <a:rPr lang="en-US" sz="4000" b="1">
                <a:solidFill>
                  <a:srgbClr val="9E1C21"/>
                </a:solidFill>
                <a:latin typeface="Times New Roman" pitchFamily="34" charset="0"/>
                <a:ea typeface="Times New Roman" pitchFamily="34" charset="-122"/>
                <a:cs typeface="Times New Roman" pitchFamily="34" charset="-120"/>
              </a:rPr>
              <a:t>200 / 100</a:t>
            </a:r>
            <a:endParaRPr lang="en-US" sz="4000"/>
          </a:p>
        </p:txBody>
      </p:sp>
      <p:sp>
        <p:nvSpPr>
          <p:cNvPr id="20" name="Text 14"/>
          <p:cNvSpPr/>
          <p:nvPr/>
        </p:nvSpPr>
        <p:spPr>
          <a:xfrm>
            <a:off x="17995392" y="3614702"/>
            <a:ext cx="7781544" cy="384048"/>
          </a:xfrm>
          <a:prstGeom prst="rect">
            <a:avLst/>
          </a:prstGeom>
          <a:noFill/>
          <a:ln/>
        </p:spPr>
        <p:txBody>
          <a:bodyPr wrap="square" lIns="0" tIns="0" rIns="0" bIns="0" rtlCol="0" anchor="t"/>
          <a:lstStyle/>
          <a:p>
            <a:pPr marL="0" indent="0" algn="ctr">
              <a:buNone/>
            </a:pPr>
            <a:r>
              <a:rPr lang="en-US" sz="3600" b="1">
                <a:solidFill>
                  <a:srgbClr val="1E1E1E"/>
                </a:solidFill>
                <a:latin typeface="Times New Roman" pitchFamily="34" charset="0"/>
                <a:ea typeface="Times New Roman" pitchFamily="34" charset="-122"/>
                <a:cs typeface="Times New Roman" pitchFamily="34" charset="-120"/>
              </a:rPr>
              <a:t>window / step samples</a:t>
            </a:r>
            <a:endParaRPr lang="en-US" sz="3600"/>
          </a:p>
        </p:txBody>
      </p:sp>
      <p:sp>
        <p:nvSpPr>
          <p:cNvPr id="21" name="Text 15"/>
          <p:cNvSpPr/>
          <p:nvPr/>
        </p:nvSpPr>
        <p:spPr>
          <a:xfrm>
            <a:off x="18068544" y="4123944"/>
            <a:ext cx="7708392" cy="512064"/>
          </a:xfrm>
          <a:prstGeom prst="rect">
            <a:avLst/>
          </a:prstGeom>
          <a:noFill/>
          <a:ln/>
        </p:spPr>
        <p:txBody>
          <a:bodyPr wrap="square" lIns="0" tIns="0" rIns="0" bIns="0" rtlCol="0" anchor="t"/>
          <a:lstStyle/>
          <a:p>
            <a:pPr marL="0" indent="0" algn="ctr">
              <a:buNone/>
            </a:pPr>
            <a:r>
              <a:rPr lang="en-US" sz="3200">
                <a:solidFill>
                  <a:srgbClr val="666666"/>
                </a:solidFill>
                <a:latin typeface="Times New Roman" pitchFamily="34" charset="0"/>
                <a:ea typeface="Times New Roman" pitchFamily="34" charset="-122"/>
                <a:cs typeface="Times New Roman" pitchFamily="34" charset="-120"/>
              </a:rPr>
              <a:t>100 ms window with 50 ms stride</a:t>
            </a:r>
            <a:endParaRPr lang="en-US" sz="3200"/>
          </a:p>
        </p:txBody>
      </p:sp>
      <p:sp>
        <p:nvSpPr>
          <p:cNvPr id="22" name="Shape 16"/>
          <p:cNvSpPr/>
          <p:nvPr/>
        </p:nvSpPr>
        <p:spPr>
          <a:xfrm>
            <a:off x="26380440" y="3063240"/>
            <a:ext cx="8001000" cy="1645920"/>
          </a:xfrm>
          <a:prstGeom prst="roundRect">
            <a:avLst>
              <a:gd name="adj" fmla="val 3333"/>
            </a:avLst>
          </a:prstGeom>
          <a:solidFill>
            <a:srgbClr val="FFF6E8"/>
          </a:solidFill>
          <a:ln w="12700">
            <a:solidFill>
              <a:srgbClr val="F5A623"/>
            </a:solidFill>
            <a:prstDash val="solid"/>
          </a:ln>
        </p:spPr>
        <p:txBody>
          <a:bodyPr/>
          <a:lstStyle/>
          <a:p>
            <a:endParaRPr lang="en-US"/>
          </a:p>
        </p:txBody>
      </p:sp>
      <p:sp>
        <p:nvSpPr>
          <p:cNvPr id="23" name="Text 17"/>
          <p:cNvSpPr/>
          <p:nvPr/>
        </p:nvSpPr>
        <p:spPr>
          <a:xfrm>
            <a:off x="26453592" y="3154680"/>
            <a:ext cx="7854696" cy="566928"/>
          </a:xfrm>
          <a:prstGeom prst="rect">
            <a:avLst/>
          </a:prstGeom>
          <a:noFill/>
          <a:ln/>
        </p:spPr>
        <p:txBody>
          <a:bodyPr wrap="square" lIns="0" tIns="0" rIns="0" bIns="0" rtlCol="0" anchor="t"/>
          <a:lstStyle/>
          <a:p>
            <a:pPr marL="0" indent="0" algn="ctr">
              <a:buNone/>
            </a:pPr>
            <a:r>
              <a:rPr lang="en-US" sz="4000" b="1">
                <a:solidFill>
                  <a:srgbClr val="9E1C21"/>
                </a:solidFill>
                <a:latin typeface="Times New Roman"/>
                <a:cs typeface="Times New Roman"/>
              </a:rPr>
              <a:t>0.90</a:t>
            </a:r>
            <a:endParaRPr lang="en-US" sz="4000"/>
          </a:p>
        </p:txBody>
      </p:sp>
      <p:sp>
        <p:nvSpPr>
          <p:cNvPr id="24" name="Text 18"/>
          <p:cNvSpPr/>
          <p:nvPr/>
        </p:nvSpPr>
        <p:spPr>
          <a:xfrm>
            <a:off x="26490168" y="3657600"/>
            <a:ext cx="7781544" cy="384048"/>
          </a:xfrm>
          <a:prstGeom prst="rect">
            <a:avLst/>
          </a:prstGeom>
          <a:noFill/>
          <a:ln/>
        </p:spPr>
        <p:txBody>
          <a:bodyPr wrap="square" lIns="0" tIns="0" rIns="0" bIns="0" rtlCol="0" anchor="t"/>
          <a:lstStyle/>
          <a:p>
            <a:pPr marL="0" indent="0" algn="ctr">
              <a:buNone/>
            </a:pPr>
            <a:r>
              <a:rPr lang="en-US" sz="3600" b="1">
                <a:solidFill>
                  <a:srgbClr val="1E1E1E"/>
                </a:solidFill>
                <a:latin typeface="Times New Roman" pitchFamily="34" charset="0"/>
                <a:ea typeface="Times New Roman" pitchFamily="34" charset="-122"/>
                <a:cs typeface="Times New Roman" pitchFamily="34" charset="-120"/>
              </a:rPr>
              <a:t>current test accuracy</a:t>
            </a:r>
            <a:endParaRPr lang="en-US" sz="3600"/>
          </a:p>
        </p:txBody>
      </p:sp>
      <p:sp>
        <p:nvSpPr>
          <p:cNvPr id="25" name="Text 19"/>
          <p:cNvSpPr/>
          <p:nvPr/>
        </p:nvSpPr>
        <p:spPr>
          <a:xfrm>
            <a:off x="26526744" y="4123944"/>
            <a:ext cx="7708392" cy="512064"/>
          </a:xfrm>
          <a:prstGeom prst="rect">
            <a:avLst/>
          </a:prstGeom>
          <a:noFill/>
          <a:ln/>
        </p:spPr>
        <p:txBody>
          <a:bodyPr wrap="square" lIns="0" tIns="0" rIns="0" bIns="0" rtlCol="0" anchor="t"/>
          <a:lstStyle/>
          <a:p>
            <a:pPr marL="0" indent="0" algn="ctr">
              <a:buNone/>
            </a:pPr>
            <a:r>
              <a:rPr lang="en-US" sz="3200">
                <a:solidFill>
                  <a:srgbClr val="666666"/>
                </a:solidFill>
                <a:latin typeface="Times New Roman" pitchFamily="34" charset="0"/>
                <a:ea typeface="Times New Roman" pitchFamily="34" charset="-122"/>
                <a:cs typeface="Times New Roman" pitchFamily="34" charset="-120"/>
              </a:rPr>
              <a:t>Earlier model ~0.65  |  +25 points</a:t>
            </a:r>
            <a:endParaRPr lang="en-US" sz="3200"/>
          </a:p>
        </p:txBody>
      </p:sp>
      <p:sp>
        <p:nvSpPr>
          <p:cNvPr id="26" name="Shape 20"/>
          <p:cNvSpPr/>
          <p:nvPr/>
        </p:nvSpPr>
        <p:spPr>
          <a:xfrm>
            <a:off x="34864040" y="3117427"/>
            <a:ext cx="8001000" cy="1645920"/>
          </a:xfrm>
          <a:prstGeom prst="roundRect">
            <a:avLst>
              <a:gd name="adj" fmla="val 3333"/>
            </a:avLst>
          </a:prstGeom>
          <a:solidFill>
            <a:srgbClr val="FFF6E8"/>
          </a:solidFill>
          <a:ln w="12700">
            <a:solidFill>
              <a:srgbClr val="F5A623"/>
            </a:solidFill>
            <a:prstDash val="solid"/>
          </a:ln>
        </p:spPr>
        <p:txBody>
          <a:bodyPr/>
          <a:lstStyle/>
          <a:p>
            <a:endParaRPr lang="en-US"/>
          </a:p>
        </p:txBody>
      </p:sp>
      <p:sp>
        <p:nvSpPr>
          <p:cNvPr id="27" name="Text 21"/>
          <p:cNvSpPr/>
          <p:nvPr/>
        </p:nvSpPr>
        <p:spPr>
          <a:xfrm>
            <a:off x="34911792" y="3154680"/>
            <a:ext cx="7854696" cy="566928"/>
          </a:xfrm>
          <a:prstGeom prst="rect">
            <a:avLst/>
          </a:prstGeom>
          <a:noFill/>
          <a:ln/>
        </p:spPr>
        <p:txBody>
          <a:bodyPr wrap="square" lIns="0" tIns="0" rIns="0" bIns="0" rtlCol="0" anchor="t"/>
          <a:lstStyle/>
          <a:p>
            <a:pPr marL="0" indent="0" algn="ctr">
              <a:buNone/>
            </a:pPr>
            <a:r>
              <a:rPr lang="en-US" sz="4000" b="1">
                <a:solidFill>
                  <a:srgbClr val="9E1C21"/>
                </a:solidFill>
                <a:latin typeface="Times New Roman" pitchFamily="34" charset="0"/>
                <a:ea typeface="Times New Roman" pitchFamily="34" charset="-122"/>
                <a:cs typeface="Times New Roman" pitchFamily="34" charset="-120"/>
              </a:rPr>
              <a:t>3 ms</a:t>
            </a:r>
            <a:endParaRPr lang="en-US" sz="4000"/>
          </a:p>
        </p:txBody>
      </p:sp>
      <p:sp>
        <p:nvSpPr>
          <p:cNvPr id="28" name="Text 22"/>
          <p:cNvSpPr/>
          <p:nvPr/>
        </p:nvSpPr>
        <p:spPr>
          <a:xfrm>
            <a:off x="34864040" y="3625595"/>
            <a:ext cx="7781544" cy="384048"/>
          </a:xfrm>
          <a:prstGeom prst="rect">
            <a:avLst/>
          </a:prstGeom>
          <a:noFill/>
          <a:ln/>
        </p:spPr>
        <p:txBody>
          <a:bodyPr wrap="square" lIns="0" tIns="0" rIns="0" bIns="0" rtlCol="0" anchor="t"/>
          <a:lstStyle/>
          <a:p>
            <a:pPr marL="0" indent="0" algn="ctr">
              <a:buNone/>
            </a:pPr>
            <a:r>
              <a:rPr lang="en-US" sz="3600" b="1">
                <a:solidFill>
                  <a:srgbClr val="1E1E1E"/>
                </a:solidFill>
                <a:latin typeface="Times New Roman" pitchFamily="34" charset="0"/>
                <a:ea typeface="Times New Roman" pitchFamily="34" charset="-122"/>
                <a:cs typeface="Times New Roman" pitchFamily="34" charset="-120"/>
              </a:rPr>
              <a:t>median processing latency</a:t>
            </a:r>
            <a:endParaRPr lang="en-US" sz="3600"/>
          </a:p>
        </p:txBody>
      </p:sp>
      <p:sp>
        <p:nvSpPr>
          <p:cNvPr id="29" name="Text 23"/>
          <p:cNvSpPr/>
          <p:nvPr/>
        </p:nvSpPr>
        <p:spPr>
          <a:xfrm>
            <a:off x="34984944" y="4123944"/>
            <a:ext cx="7708392" cy="512064"/>
          </a:xfrm>
          <a:prstGeom prst="rect">
            <a:avLst/>
          </a:prstGeom>
          <a:noFill/>
          <a:ln/>
        </p:spPr>
        <p:txBody>
          <a:bodyPr wrap="square" lIns="0" tIns="0" rIns="0" bIns="0" rtlCol="0" anchor="t"/>
          <a:lstStyle/>
          <a:p>
            <a:pPr marL="0" indent="0" algn="ctr">
              <a:buNone/>
            </a:pPr>
            <a:r>
              <a:rPr lang="en-US" sz="3200">
                <a:solidFill>
                  <a:srgbClr val="666666"/>
                </a:solidFill>
                <a:latin typeface="Times New Roman" pitchFamily="34" charset="0"/>
                <a:ea typeface="Times New Roman" pitchFamily="34" charset="-122"/>
                <a:cs typeface="Times New Roman" pitchFamily="34" charset="-120"/>
              </a:rPr>
              <a:t>p95 ~4 ms inside realtime loop</a:t>
            </a:r>
            <a:endParaRPr lang="en-US" sz="3200"/>
          </a:p>
        </p:txBody>
      </p:sp>
      <p:sp>
        <p:nvSpPr>
          <p:cNvPr id="30" name="Shape 24"/>
          <p:cNvSpPr/>
          <p:nvPr/>
        </p:nvSpPr>
        <p:spPr>
          <a:xfrm>
            <a:off x="914400" y="4983480"/>
            <a:ext cx="42062400" cy="2514600"/>
          </a:xfrm>
          <a:prstGeom prst="roundRect">
            <a:avLst>
              <a:gd name="adj" fmla="val 1455"/>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31" name="Shape 25"/>
          <p:cNvSpPr/>
          <p:nvPr/>
        </p:nvSpPr>
        <p:spPr>
          <a:xfrm>
            <a:off x="914400" y="4983480"/>
            <a:ext cx="42062400" cy="502920"/>
          </a:xfrm>
          <a:prstGeom prst="roundRect">
            <a:avLst>
              <a:gd name="adj" fmla="val 7273"/>
            </a:avLst>
          </a:prstGeom>
          <a:solidFill>
            <a:srgbClr val="C1272D"/>
          </a:solidFill>
          <a:ln w="12700">
            <a:solidFill>
              <a:srgbClr val="C1272D"/>
            </a:solidFill>
            <a:prstDash val="solid"/>
          </a:ln>
        </p:spPr>
        <p:txBody>
          <a:bodyPr/>
          <a:lstStyle/>
          <a:p>
            <a:endParaRPr lang="en-US" sz="2800"/>
          </a:p>
        </p:txBody>
      </p:sp>
      <p:sp>
        <p:nvSpPr>
          <p:cNvPr id="32" name="Text 26"/>
          <p:cNvSpPr/>
          <p:nvPr/>
        </p:nvSpPr>
        <p:spPr>
          <a:xfrm>
            <a:off x="1115568" y="5074920"/>
            <a:ext cx="41660064" cy="393192"/>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End-to-End System Architecture</a:t>
            </a:r>
            <a:endParaRPr lang="en-US" sz="2800"/>
          </a:p>
        </p:txBody>
      </p:sp>
      <p:sp>
        <p:nvSpPr>
          <p:cNvPr id="33" name="Shape 27"/>
          <p:cNvSpPr/>
          <p:nvPr/>
        </p:nvSpPr>
        <p:spPr>
          <a:xfrm>
            <a:off x="1325880" y="5696711"/>
            <a:ext cx="5349240" cy="1554480"/>
          </a:xfrm>
          <a:prstGeom prst="roundRect">
            <a:avLst>
              <a:gd name="adj" fmla="val 4211"/>
            </a:avLst>
          </a:prstGeom>
          <a:solidFill>
            <a:srgbClr val="FFFFFF"/>
          </a:solidFill>
          <a:ln w="12700">
            <a:solidFill>
              <a:srgbClr val="C1272D"/>
            </a:solidFill>
            <a:prstDash val="solid"/>
          </a:ln>
        </p:spPr>
        <p:txBody>
          <a:bodyPr/>
          <a:lstStyle/>
          <a:p>
            <a:endParaRPr lang="en-US" sz="2800"/>
          </a:p>
        </p:txBody>
      </p:sp>
      <p:sp>
        <p:nvSpPr>
          <p:cNvPr id="34" name="Text 28"/>
          <p:cNvSpPr/>
          <p:nvPr/>
        </p:nvSpPr>
        <p:spPr>
          <a:xfrm>
            <a:off x="1417320" y="5766816"/>
            <a:ext cx="5166360" cy="347472"/>
          </a:xfrm>
          <a:prstGeom prst="rect">
            <a:avLst/>
          </a:prstGeom>
          <a:noFill/>
          <a:ln/>
        </p:spPr>
        <p:txBody>
          <a:bodyPr wrap="square" lIns="0" tIns="0" rIns="0" bIns="0" rtlCol="0" anchor="t"/>
          <a:lstStyle/>
          <a:p>
            <a:pPr marL="0" indent="0" algn="ctr">
              <a:buNone/>
            </a:pPr>
            <a:r>
              <a:rPr lang="en-US" sz="2800" b="1">
                <a:solidFill>
                  <a:srgbClr val="9E1C21"/>
                </a:solidFill>
                <a:latin typeface="Times New Roman" pitchFamily="34" charset="0"/>
                <a:ea typeface="Times New Roman" pitchFamily="34" charset="-122"/>
                <a:cs typeface="Times New Roman" pitchFamily="34" charset="-120"/>
              </a:rPr>
              <a:t>Strict-layout</a:t>
            </a:r>
            <a:endParaRPr lang="en-US" sz="2800"/>
          </a:p>
          <a:p>
            <a:pPr marL="0" indent="0" algn="ctr">
              <a:buNone/>
            </a:pPr>
            <a:r>
              <a:rPr lang="en-US" sz="2800" b="1">
                <a:solidFill>
                  <a:srgbClr val="9E1C21"/>
                </a:solidFill>
                <a:latin typeface="Times New Roman" pitchFamily="34" charset="0"/>
                <a:ea typeface="Times New Roman" pitchFamily="34" charset="-122"/>
                <a:cs typeface="Times New Roman" pitchFamily="34" charset="-120"/>
              </a:rPr>
              <a:t>collection</a:t>
            </a:r>
            <a:endParaRPr lang="en-US" sz="2800"/>
          </a:p>
        </p:txBody>
      </p:sp>
      <p:sp>
        <p:nvSpPr>
          <p:cNvPr id="35" name="Text 29"/>
          <p:cNvSpPr/>
          <p:nvPr/>
        </p:nvSpPr>
        <p:spPr>
          <a:xfrm>
            <a:off x="1472184" y="6679692"/>
            <a:ext cx="5056632" cy="256032"/>
          </a:xfrm>
          <a:prstGeom prst="rect">
            <a:avLst/>
          </a:prstGeom>
          <a:noFill/>
          <a:ln/>
        </p:spPr>
        <p:txBody>
          <a:bodyPr wrap="square" lIns="0" tIns="0" rIns="0" bIns="0" rtlCol="0" anchor="t"/>
          <a:lstStyle/>
          <a:p>
            <a:pPr marL="0" indent="0" algn="ctr">
              <a:buNone/>
            </a:pPr>
            <a:r>
              <a:rPr lang="en-US" sz="2400">
                <a:solidFill>
                  <a:srgbClr val="666666"/>
                </a:solidFill>
                <a:latin typeface="Times New Roman" pitchFamily="34" charset="0"/>
                <a:ea typeface="Times New Roman" pitchFamily="34" charset="-122"/>
                <a:cs typeface="Times New Roman" pitchFamily="34" charset="-120"/>
              </a:rPr>
              <a:t>Delsys GUI + paired sensors</a:t>
            </a:r>
            <a:endParaRPr lang="en-US" sz="2400"/>
          </a:p>
        </p:txBody>
      </p:sp>
      <p:sp>
        <p:nvSpPr>
          <p:cNvPr id="36" name="Shape 30"/>
          <p:cNvSpPr/>
          <p:nvPr/>
        </p:nvSpPr>
        <p:spPr>
          <a:xfrm>
            <a:off x="6803136" y="6222492"/>
            <a:ext cx="256032" cy="475488"/>
          </a:xfrm>
          <a:prstGeom prst="chevron">
            <a:avLst/>
          </a:prstGeom>
          <a:solidFill>
            <a:srgbClr val="F5A623"/>
          </a:solidFill>
          <a:ln w="12700">
            <a:solidFill>
              <a:srgbClr val="F5A623"/>
            </a:solidFill>
            <a:prstDash val="solid"/>
          </a:ln>
        </p:spPr>
        <p:txBody>
          <a:bodyPr/>
          <a:lstStyle/>
          <a:p>
            <a:endParaRPr lang="en-US"/>
          </a:p>
        </p:txBody>
      </p:sp>
      <p:sp>
        <p:nvSpPr>
          <p:cNvPr id="37" name="Shape 31"/>
          <p:cNvSpPr/>
          <p:nvPr/>
        </p:nvSpPr>
        <p:spPr>
          <a:xfrm>
            <a:off x="7205472" y="5696711"/>
            <a:ext cx="5349240" cy="1554479"/>
          </a:xfrm>
          <a:prstGeom prst="roundRect">
            <a:avLst>
              <a:gd name="adj" fmla="val 4211"/>
            </a:avLst>
          </a:prstGeom>
          <a:solidFill>
            <a:srgbClr val="FFFFFF"/>
          </a:solidFill>
          <a:ln w="12700">
            <a:solidFill>
              <a:srgbClr val="C1272D"/>
            </a:solidFill>
            <a:prstDash val="solid"/>
          </a:ln>
        </p:spPr>
        <p:txBody>
          <a:bodyPr/>
          <a:lstStyle/>
          <a:p>
            <a:endParaRPr lang="en-US"/>
          </a:p>
        </p:txBody>
      </p:sp>
      <p:sp>
        <p:nvSpPr>
          <p:cNvPr id="38" name="Text 32"/>
          <p:cNvSpPr/>
          <p:nvPr/>
        </p:nvSpPr>
        <p:spPr>
          <a:xfrm>
            <a:off x="7296912" y="5806440"/>
            <a:ext cx="5166360" cy="347472"/>
          </a:xfrm>
          <a:prstGeom prst="rect">
            <a:avLst/>
          </a:prstGeom>
          <a:noFill/>
          <a:ln/>
        </p:spPr>
        <p:txBody>
          <a:bodyPr wrap="square" lIns="0" tIns="0" rIns="0" bIns="0" rtlCol="0" anchor="t"/>
          <a:lstStyle/>
          <a:p>
            <a:pPr marL="0" indent="0" algn="ctr">
              <a:buNone/>
            </a:pPr>
            <a:r>
              <a:rPr lang="en-US" sz="2800" b="1">
                <a:solidFill>
                  <a:srgbClr val="9E1C21"/>
                </a:solidFill>
                <a:latin typeface="Times New Roman" pitchFamily="34" charset="0"/>
                <a:ea typeface="Times New Roman" pitchFamily="34" charset="-122"/>
                <a:cs typeface="Times New Roman" pitchFamily="34" charset="-120"/>
              </a:rPr>
              <a:t>Resampling</a:t>
            </a:r>
            <a:endParaRPr lang="en-US" sz="2800"/>
          </a:p>
        </p:txBody>
      </p:sp>
      <p:sp>
        <p:nvSpPr>
          <p:cNvPr id="39" name="Text 33"/>
          <p:cNvSpPr/>
          <p:nvPr/>
        </p:nvSpPr>
        <p:spPr>
          <a:xfrm>
            <a:off x="7351776" y="6441949"/>
            <a:ext cx="5056632" cy="256032"/>
          </a:xfrm>
          <a:prstGeom prst="rect">
            <a:avLst/>
          </a:prstGeom>
          <a:noFill/>
          <a:ln/>
        </p:spPr>
        <p:txBody>
          <a:bodyPr wrap="square" lIns="0" tIns="0" rIns="0" bIns="0" rtlCol="0" anchor="t"/>
          <a:lstStyle/>
          <a:p>
            <a:pPr marL="0" indent="0" algn="ctr">
              <a:buNone/>
            </a:pPr>
            <a:r>
              <a:rPr lang="en-US" sz="2400">
                <a:solidFill>
                  <a:srgbClr val="666666"/>
                </a:solidFill>
                <a:latin typeface="Times New Roman" pitchFamily="34" charset="0"/>
                <a:ea typeface="Times New Roman" pitchFamily="34" charset="-122"/>
                <a:cs typeface="Times New Roman" pitchFamily="34" charset="-120"/>
              </a:rPr>
              <a:t>multi-sensor streams -&gt; 2000 Hz</a:t>
            </a:r>
            <a:endParaRPr lang="en-US" sz="2400"/>
          </a:p>
        </p:txBody>
      </p:sp>
      <p:sp>
        <p:nvSpPr>
          <p:cNvPr id="40" name="Shape 34"/>
          <p:cNvSpPr/>
          <p:nvPr/>
        </p:nvSpPr>
        <p:spPr>
          <a:xfrm>
            <a:off x="12682728" y="6222492"/>
            <a:ext cx="256032" cy="475488"/>
          </a:xfrm>
          <a:prstGeom prst="chevron">
            <a:avLst/>
          </a:prstGeom>
          <a:solidFill>
            <a:srgbClr val="F5A623"/>
          </a:solidFill>
          <a:ln w="12700">
            <a:solidFill>
              <a:srgbClr val="F5A623"/>
            </a:solidFill>
            <a:prstDash val="solid"/>
          </a:ln>
        </p:spPr>
        <p:txBody>
          <a:bodyPr/>
          <a:lstStyle/>
          <a:p>
            <a:endParaRPr lang="en-US"/>
          </a:p>
        </p:txBody>
      </p:sp>
      <p:sp>
        <p:nvSpPr>
          <p:cNvPr id="41" name="Shape 35"/>
          <p:cNvSpPr/>
          <p:nvPr/>
        </p:nvSpPr>
        <p:spPr>
          <a:xfrm>
            <a:off x="13085064" y="5696711"/>
            <a:ext cx="5349240" cy="1554479"/>
          </a:xfrm>
          <a:prstGeom prst="roundRect">
            <a:avLst>
              <a:gd name="adj" fmla="val 4211"/>
            </a:avLst>
          </a:prstGeom>
          <a:solidFill>
            <a:srgbClr val="FFFFFF"/>
          </a:solidFill>
          <a:ln w="12700">
            <a:solidFill>
              <a:srgbClr val="C1272D"/>
            </a:solidFill>
            <a:prstDash val="solid"/>
          </a:ln>
        </p:spPr>
        <p:txBody>
          <a:bodyPr/>
          <a:lstStyle/>
          <a:p>
            <a:endParaRPr lang="en-US"/>
          </a:p>
        </p:txBody>
      </p:sp>
      <p:sp>
        <p:nvSpPr>
          <p:cNvPr id="42" name="Text 36"/>
          <p:cNvSpPr/>
          <p:nvPr/>
        </p:nvSpPr>
        <p:spPr>
          <a:xfrm>
            <a:off x="13176504" y="5806440"/>
            <a:ext cx="5166360" cy="347472"/>
          </a:xfrm>
          <a:prstGeom prst="rect">
            <a:avLst/>
          </a:prstGeom>
          <a:noFill/>
          <a:ln/>
        </p:spPr>
        <p:txBody>
          <a:bodyPr wrap="square" lIns="0" tIns="0" rIns="0" bIns="0" rtlCol="0" anchor="t"/>
          <a:lstStyle/>
          <a:p>
            <a:pPr marL="0" indent="0" algn="ctr">
              <a:buNone/>
            </a:pPr>
            <a:r>
              <a:rPr lang="en-US" sz="2800" b="1">
                <a:solidFill>
                  <a:srgbClr val="9E1C21"/>
                </a:solidFill>
                <a:latin typeface="Times New Roman" pitchFamily="34" charset="0"/>
                <a:ea typeface="Times New Roman" pitchFamily="34" charset="-122"/>
                <a:cs typeface="Times New Roman" pitchFamily="34" charset="-120"/>
              </a:rPr>
              <a:t>Filtering</a:t>
            </a:r>
            <a:endParaRPr lang="en-US" sz="2800"/>
          </a:p>
        </p:txBody>
      </p:sp>
      <p:sp>
        <p:nvSpPr>
          <p:cNvPr id="43" name="Text 37"/>
          <p:cNvSpPr/>
          <p:nvPr/>
        </p:nvSpPr>
        <p:spPr>
          <a:xfrm>
            <a:off x="13231368" y="6519672"/>
            <a:ext cx="5056632" cy="256032"/>
          </a:xfrm>
          <a:prstGeom prst="rect">
            <a:avLst/>
          </a:prstGeom>
          <a:noFill/>
          <a:ln/>
        </p:spPr>
        <p:txBody>
          <a:bodyPr wrap="square" lIns="0" tIns="0" rIns="0" bIns="0" rtlCol="0" anchor="t"/>
          <a:lstStyle/>
          <a:p>
            <a:pPr marL="0" indent="0" algn="ctr">
              <a:buNone/>
            </a:pPr>
            <a:r>
              <a:rPr lang="en-US" sz="2400">
                <a:solidFill>
                  <a:srgbClr val="666666"/>
                </a:solidFill>
                <a:latin typeface="Times New Roman" pitchFamily="34" charset="0"/>
                <a:ea typeface="Times New Roman" pitchFamily="34" charset="-122"/>
                <a:cs typeface="Times New Roman" pitchFamily="34" charset="-120"/>
              </a:rPr>
              <a:t>60/120 Hz notch + 20-450 Hz bandpass</a:t>
            </a:r>
            <a:endParaRPr lang="en-US" sz="2400"/>
          </a:p>
        </p:txBody>
      </p:sp>
      <p:sp>
        <p:nvSpPr>
          <p:cNvPr id="44" name="Shape 38"/>
          <p:cNvSpPr/>
          <p:nvPr/>
        </p:nvSpPr>
        <p:spPr>
          <a:xfrm>
            <a:off x="18562320" y="6222492"/>
            <a:ext cx="256032" cy="475488"/>
          </a:xfrm>
          <a:prstGeom prst="chevron">
            <a:avLst/>
          </a:prstGeom>
          <a:solidFill>
            <a:srgbClr val="F5A623"/>
          </a:solidFill>
          <a:ln w="12700">
            <a:solidFill>
              <a:srgbClr val="F5A623"/>
            </a:solidFill>
            <a:prstDash val="solid"/>
          </a:ln>
        </p:spPr>
        <p:txBody>
          <a:bodyPr/>
          <a:lstStyle/>
          <a:p>
            <a:endParaRPr lang="en-US"/>
          </a:p>
        </p:txBody>
      </p:sp>
      <p:sp>
        <p:nvSpPr>
          <p:cNvPr id="45" name="Shape 39"/>
          <p:cNvSpPr/>
          <p:nvPr/>
        </p:nvSpPr>
        <p:spPr>
          <a:xfrm>
            <a:off x="18964656" y="5696711"/>
            <a:ext cx="5349240" cy="1554479"/>
          </a:xfrm>
          <a:prstGeom prst="roundRect">
            <a:avLst>
              <a:gd name="adj" fmla="val 4211"/>
            </a:avLst>
          </a:prstGeom>
          <a:solidFill>
            <a:srgbClr val="FFFFFF"/>
          </a:solidFill>
          <a:ln w="12700">
            <a:solidFill>
              <a:srgbClr val="C1272D"/>
            </a:solidFill>
            <a:prstDash val="solid"/>
          </a:ln>
        </p:spPr>
        <p:txBody>
          <a:bodyPr/>
          <a:lstStyle/>
          <a:p>
            <a:endParaRPr lang="en-US"/>
          </a:p>
        </p:txBody>
      </p:sp>
      <p:sp>
        <p:nvSpPr>
          <p:cNvPr id="46" name="Text 40"/>
          <p:cNvSpPr/>
          <p:nvPr/>
        </p:nvSpPr>
        <p:spPr>
          <a:xfrm>
            <a:off x="19001232" y="5769864"/>
            <a:ext cx="5166360" cy="347472"/>
          </a:xfrm>
          <a:prstGeom prst="rect">
            <a:avLst/>
          </a:prstGeom>
          <a:noFill/>
          <a:ln/>
        </p:spPr>
        <p:txBody>
          <a:bodyPr wrap="square" lIns="0" tIns="0" rIns="0" bIns="0" rtlCol="0" anchor="t"/>
          <a:lstStyle/>
          <a:p>
            <a:pPr marL="0" indent="0" algn="ctr">
              <a:buNone/>
            </a:pPr>
            <a:r>
              <a:rPr lang="en-US" sz="2800" b="1">
                <a:solidFill>
                  <a:srgbClr val="9E1C21"/>
                </a:solidFill>
                <a:latin typeface="Times New Roman" pitchFamily="34" charset="0"/>
                <a:ea typeface="Times New Roman" pitchFamily="34" charset="-122"/>
                <a:cs typeface="Times New Roman" pitchFamily="34" charset="-120"/>
              </a:rPr>
              <a:t>Windowing +</a:t>
            </a:r>
            <a:endParaRPr lang="en-US" sz="2800"/>
          </a:p>
          <a:p>
            <a:pPr marL="0" indent="0" algn="ctr">
              <a:buNone/>
            </a:pPr>
            <a:r>
              <a:rPr lang="en-US" sz="2800" b="1">
                <a:solidFill>
                  <a:srgbClr val="9E1C21"/>
                </a:solidFill>
                <a:latin typeface="Times New Roman" pitchFamily="34" charset="0"/>
                <a:ea typeface="Times New Roman" pitchFamily="34" charset="-122"/>
                <a:cs typeface="Times New Roman" pitchFamily="34" charset="-120"/>
              </a:rPr>
              <a:t>calibration</a:t>
            </a:r>
            <a:endParaRPr lang="en-US" sz="2800"/>
          </a:p>
        </p:txBody>
      </p:sp>
      <p:sp>
        <p:nvSpPr>
          <p:cNvPr id="47" name="Text 41"/>
          <p:cNvSpPr/>
          <p:nvPr/>
        </p:nvSpPr>
        <p:spPr>
          <a:xfrm>
            <a:off x="19101816" y="6675120"/>
            <a:ext cx="5056632" cy="256032"/>
          </a:xfrm>
          <a:prstGeom prst="rect">
            <a:avLst/>
          </a:prstGeom>
          <a:noFill/>
          <a:ln/>
        </p:spPr>
        <p:txBody>
          <a:bodyPr wrap="square" lIns="0" tIns="0" rIns="0" bIns="0" rtlCol="0" anchor="t"/>
          <a:lstStyle/>
          <a:p>
            <a:pPr marL="0" indent="0" algn="ctr">
              <a:buNone/>
            </a:pPr>
            <a:r>
              <a:rPr lang="en-US" sz="2400">
                <a:solidFill>
                  <a:srgbClr val="666666"/>
                </a:solidFill>
                <a:latin typeface="Times New Roman" pitchFamily="34" charset="0"/>
                <a:ea typeface="Times New Roman" pitchFamily="34" charset="-122"/>
                <a:cs typeface="Times New Roman" pitchFamily="34" charset="-120"/>
              </a:rPr>
              <a:t>200/100 samples + neutral/MVC scaling</a:t>
            </a:r>
            <a:endParaRPr lang="en-US" sz="2400"/>
          </a:p>
        </p:txBody>
      </p:sp>
      <p:sp>
        <p:nvSpPr>
          <p:cNvPr id="48" name="Shape 42"/>
          <p:cNvSpPr/>
          <p:nvPr/>
        </p:nvSpPr>
        <p:spPr>
          <a:xfrm>
            <a:off x="24441912" y="6222492"/>
            <a:ext cx="256032" cy="475488"/>
          </a:xfrm>
          <a:prstGeom prst="chevron">
            <a:avLst/>
          </a:prstGeom>
          <a:solidFill>
            <a:srgbClr val="F5A623"/>
          </a:solidFill>
          <a:ln w="12700">
            <a:solidFill>
              <a:srgbClr val="F5A623"/>
            </a:solidFill>
            <a:prstDash val="solid"/>
          </a:ln>
        </p:spPr>
        <p:txBody>
          <a:bodyPr/>
          <a:lstStyle/>
          <a:p>
            <a:endParaRPr lang="en-US"/>
          </a:p>
        </p:txBody>
      </p:sp>
      <p:sp>
        <p:nvSpPr>
          <p:cNvPr id="49" name="Shape 43"/>
          <p:cNvSpPr/>
          <p:nvPr/>
        </p:nvSpPr>
        <p:spPr>
          <a:xfrm>
            <a:off x="24844248" y="5696711"/>
            <a:ext cx="5349240" cy="1554479"/>
          </a:xfrm>
          <a:prstGeom prst="roundRect">
            <a:avLst>
              <a:gd name="adj" fmla="val 4211"/>
            </a:avLst>
          </a:prstGeom>
          <a:solidFill>
            <a:srgbClr val="FFFFFF"/>
          </a:solidFill>
          <a:ln w="12700">
            <a:solidFill>
              <a:srgbClr val="C1272D"/>
            </a:solidFill>
            <a:prstDash val="solid"/>
          </a:ln>
        </p:spPr>
        <p:txBody>
          <a:bodyPr/>
          <a:lstStyle/>
          <a:p>
            <a:endParaRPr lang="en-US"/>
          </a:p>
        </p:txBody>
      </p:sp>
      <p:sp>
        <p:nvSpPr>
          <p:cNvPr id="50" name="Text 44"/>
          <p:cNvSpPr/>
          <p:nvPr/>
        </p:nvSpPr>
        <p:spPr>
          <a:xfrm>
            <a:off x="24935688" y="5806440"/>
            <a:ext cx="5166360" cy="347472"/>
          </a:xfrm>
          <a:prstGeom prst="rect">
            <a:avLst/>
          </a:prstGeom>
          <a:noFill/>
          <a:ln/>
        </p:spPr>
        <p:txBody>
          <a:bodyPr wrap="square" lIns="0" tIns="0" rIns="0" bIns="0" rtlCol="0" anchor="t"/>
          <a:lstStyle/>
          <a:p>
            <a:pPr marL="0" indent="0" algn="ctr">
              <a:buNone/>
            </a:pPr>
            <a:r>
              <a:rPr lang="en-US" sz="2800" b="1">
                <a:solidFill>
                  <a:srgbClr val="9E1C21"/>
                </a:solidFill>
                <a:latin typeface="Times New Roman" pitchFamily="34" charset="0"/>
                <a:ea typeface="Times New Roman" pitchFamily="34" charset="-122"/>
                <a:cs typeface="Times New Roman" pitchFamily="34" charset="-120"/>
              </a:rPr>
              <a:t>GestureCNNv2</a:t>
            </a:r>
            <a:endParaRPr lang="en-US" sz="2800"/>
          </a:p>
        </p:txBody>
      </p:sp>
      <p:sp>
        <p:nvSpPr>
          <p:cNvPr id="51" name="Text 45"/>
          <p:cNvSpPr/>
          <p:nvPr/>
        </p:nvSpPr>
        <p:spPr>
          <a:xfrm>
            <a:off x="24990552" y="6453095"/>
            <a:ext cx="5056632" cy="256032"/>
          </a:xfrm>
          <a:prstGeom prst="rect">
            <a:avLst/>
          </a:prstGeom>
          <a:noFill/>
          <a:ln/>
        </p:spPr>
        <p:txBody>
          <a:bodyPr wrap="square" lIns="0" tIns="0" rIns="0" bIns="0" rtlCol="0" anchor="t"/>
          <a:lstStyle/>
          <a:p>
            <a:pPr marL="0" indent="0" algn="ctr">
              <a:buNone/>
            </a:pPr>
            <a:r>
              <a:rPr lang="en-US" sz="2400">
                <a:solidFill>
                  <a:srgbClr val="666666"/>
                </a:solidFill>
                <a:latin typeface="Times New Roman" pitchFamily="34" charset="0"/>
                <a:ea typeface="Times New Roman" pitchFamily="34" charset="-122"/>
                <a:cs typeface="Times New Roman" pitchFamily="34" charset="-120"/>
              </a:rPr>
              <a:t>Residual 1D CNN + channel attention</a:t>
            </a:r>
            <a:endParaRPr lang="en-US" sz="2400"/>
          </a:p>
        </p:txBody>
      </p:sp>
      <p:sp>
        <p:nvSpPr>
          <p:cNvPr id="52" name="Shape 46"/>
          <p:cNvSpPr/>
          <p:nvPr/>
        </p:nvSpPr>
        <p:spPr>
          <a:xfrm>
            <a:off x="30321504" y="6222492"/>
            <a:ext cx="256032" cy="475488"/>
          </a:xfrm>
          <a:prstGeom prst="chevron">
            <a:avLst/>
          </a:prstGeom>
          <a:solidFill>
            <a:srgbClr val="F5A623"/>
          </a:solidFill>
          <a:ln w="12700">
            <a:solidFill>
              <a:srgbClr val="F5A623"/>
            </a:solidFill>
            <a:prstDash val="solid"/>
          </a:ln>
        </p:spPr>
        <p:txBody>
          <a:bodyPr/>
          <a:lstStyle/>
          <a:p>
            <a:endParaRPr lang="en-US"/>
          </a:p>
        </p:txBody>
      </p:sp>
      <p:sp>
        <p:nvSpPr>
          <p:cNvPr id="53" name="Shape 47"/>
          <p:cNvSpPr/>
          <p:nvPr/>
        </p:nvSpPr>
        <p:spPr>
          <a:xfrm>
            <a:off x="30723840" y="5696711"/>
            <a:ext cx="5349240" cy="1554479"/>
          </a:xfrm>
          <a:prstGeom prst="roundRect">
            <a:avLst>
              <a:gd name="adj" fmla="val 4211"/>
            </a:avLst>
          </a:prstGeom>
          <a:solidFill>
            <a:srgbClr val="FFFFFF"/>
          </a:solidFill>
          <a:ln w="12700">
            <a:solidFill>
              <a:srgbClr val="C1272D"/>
            </a:solidFill>
            <a:prstDash val="solid"/>
          </a:ln>
        </p:spPr>
        <p:txBody>
          <a:bodyPr/>
          <a:lstStyle/>
          <a:p>
            <a:endParaRPr lang="en-US"/>
          </a:p>
        </p:txBody>
      </p:sp>
      <p:sp>
        <p:nvSpPr>
          <p:cNvPr id="54" name="Text 48"/>
          <p:cNvSpPr/>
          <p:nvPr/>
        </p:nvSpPr>
        <p:spPr>
          <a:xfrm>
            <a:off x="30815280" y="5806440"/>
            <a:ext cx="5166360" cy="347472"/>
          </a:xfrm>
          <a:prstGeom prst="rect">
            <a:avLst/>
          </a:prstGeom>
          <a:noFill/>
          <a:ln/>
        </p:spPr>
        <p:txBody>
          <a:bodyPr wrap="square" lIns="0" tIns="0" rIns="0" bIns="0" rtlCol="0" anchor="t"/>
          <a:lstStyle/>
          <a:p>
            <a:pPr marL="0" indent="0" algn="ctr">
              <a:buNone/>
            </a:pPr>
            <a:r>
              <a:rPr lang="en-US" sz="2800" b="1">
                <a:solidFill>
                  <a:srgbClr val="9E1C21"/>
                </a:solidFill>
                <a:latin typeface="Times New Roman" pitchFamily="34" charset="0"/>
                <a:ea typeface="Times New Roman" pitchFamily="34" charset="-122"/>
                <a:cs typeface="Times New Roman" pitchFamily="34" charset="-120"/>
              </a:rPr>
              <a:t>Runtime tuning</a:t>
            </a:r>
            <a:endParaRPr lang="en-US" sz="2800"/>
          </a:p>
        </p:txBody>
      </p:sp>
      <p:sp>
        <p:nvSpPr>
          <p:cNvPr id="55" name="Text 49"/>
          <p:cNvSpPr/>
          <p:nvPr/>
        </p:nvSpPr>
        <p:spPr>
          <a:xfrm>
            <a:off x="30815280" y="6448015"/>
            <a:ext cx="5056632" cy="256032"/>
          </a:xfrm>
          <a:prstGeom prst="rect">
            <a:avLst/>
          </a:prstGeom>
          <a:noFill/>
          <a:ln/>
        </p:spPr>
        <p:txBody>
          <a:bodyPr wrap="square" lIns="0" tIns="0" rIns="0" bIns="0" rtlCol="0" anchor="t"/>
          <a:lstStyle/>
          <a:p>
            <a:pPr marL="0" indent="0" algn="ctr">
              <a:buNone/>
            </a:pPr>
            <a:r>
              <a:rPr lang="en-US" sz="2400">
                <a:solidFill>
                  <a:srgbClr val="666666"/>
                </a:solidFill>
                <a:latin typeface="Times New Roman" pitchFamily="34" charset="0"/>
                <a:ea typeface="Times New Roman" pitchFamily="34" charset="-122"/>
                <a:cs typeface="Times New Roman" pitchFamily="34" charset="-120"/>
              </a:rPr>
              <a:t>smoothing + confidence gate + hysteresis</a:t>
            </a:r>
            <a:endParaRPr lang="en-US" sz="2400"/>
          </a:p>
        </p:txBody>
      </p:sp>
      <p:sp>
        <p:nvSpPr>
          <p:cNvPr id="56" name="Shape 50"/>
          <p:cNvSpPr/>
          <p:nvPr/>
        </p:nvSpPr>
        <p:spPr>
          <a:xfrm>
            <a:off x="36201096" y="6222492"/>
            <a:ext cx="256032" cy="475488"/>
          </a:xfrm>
          <a:prstGeom prst="chevron">
            <a:avLst/>
          </a:prstGeom>
          <a:solidFill>
            <a:srgbClr val="F5A623"/>
          </a:solidFill>
          <a:ln w="12700">
            <a:solidFill>
              <a:srgbClr val="F5A623"/>
            </a:solidFill>
            <a:prstDash val="solid"/>
          </a:ln>
        </p:spPr>
        <p:txBody>
          <a:bodyPr/>
          <a:lstStyle/>
          <a:p>
            <a:endParaRPr lang="en-US"/>
          </a:p>
        </p:txBody>
      </p:sp>
      <p:sp>
        <p:nvSpPr>
          <p:cNvPr id="57" name="Shape 51"/>
          <p:cNvSpPr/>
          <p:nvPr/>
        </p:nvSpPr>
        <p:spPr>
          <a:xfrm>
            <a:off x="36603432" y="5696711"/>
            <a:ext cx="5349240" cy="1554479"/>
          </a:xfrm>
          <a:prstGeom prst="roundRect">
            <a:avLst>
              <a:gd name="adj" fmla="val 4211"/>
            </a:avLst>
          </a:prstGeom>
          <a:solidFill>
            <a:srgbClr val="FFFFFF"/>
          </a:solidFill>
          <a:ln w="12700">
            <a:solidFill>
              <a:srgbClr val="C1272D"/>
            </a:solidFill>
            <a:prstDash val="solid"/>
          </a:ln>
        </p:spPr>
        <p:txBody>
          <a:bodyPr/>
          <a:lstStyle/>
          <a:p>
            <a:endParaRPr lang="en-US"/>
          </a:p>
        </p:txBody>
      </p:sp>
      <p:sp>
        <p:nvSpPr>
          <p:cNvPr id="58" name="Text 52"/>
          <p:cNvSpPr/>
          <p:nvPr/>
        </p:nvSpPr>
        <p:spPr>
          <a:xfrm>
            <a:off x="36694872" y="5806440"/>
            <a:ext cx="5166360" cy="347472"/>
          </a:xfrm>
          <a:prstGeom prst="rect">
            <a:avLst/>
          </a:prstGeom>
          <a:noFill/>
          <a:ln/>
        </p:spPr>
        <p:txBody>
          <a:bodyPr wrap="square" lIns="0" tIns="0" rIns="0" bIns="0" rtlCol="0" anchor="t"/>
          <a:lstStyle/>
          <a:p>
            <a:pPr marL="0" indent="0" algn="ctr">
              <a:buNone/>
            </a:pPr>
            <a:r>
              <a:rPr lang="en-US" sz="2800" b="1">
                <a:solidFill>
                  <a:srgbClr val="9E1C21"/>
                </a:solidFill>
                <a:latin typeface="Times New Roman" pitchFamily="34" charset="0"/>
                <a:ea typeface="Times New Roman" pitchFamily="34" charset="-122"/>
                <a:cs typeface="Times New Roman" pitchFamily="34" charset="-120"/>
              </a:rPr>
              <a:t>CARLA control</a:t>
            </a:r>
            <a:endParaRPr lang="en-US" sz="2800"/>
          </a:p>
        </p:txBody>
      </p:sp>
      <p:sp>
        <p:nvSpPr>
          <p:cNvPr id="59" name="Text 53"/>
          <p:cNvSpPr/>
          <p:nvPr/>
        </p:nvSpPr>
        <p:spPr>
          <a:xfrm>
            <a:off x="36713345" y="6470846"/>
            <a:ext cx="5056632" cy="256032"/>
          </a:xfrm>
          <a:prstGeom prst="rect">
            <a:avLst/>
          </a:prstGeom>
          <a:noFill/>
          <a:ln/>
        </p:spPr>
        <p:txBody>
          <a:bodyPr wrap="square" lIns="0" tIns="0" rIns="0" bIns="0" rtlCol="0" anchor="t"/>
          <a:lstStyle/>
          <a:p>
            <a:pPr marL="0" indent="0" algn="ctr">
              <a:buNone/>
            </a:pPr>
            <a:r>
              <a:rPr lang="en-US" sz="2400">
                <a:solidFill>
                  <a:srgbClr val="666666"/>
                </a:solidFill>
                <a:latin typeface="Times New Roman" pitchFamily="34" charset="0"/>
                <a:ea typeface="Times New Roman" pitchFamily="34" charset="-122"/>
                <a:cs typeface="Times New Roman" pitchFamily="34" charset="-120"/>
              </a:rPr>
              <a:t>steering / indicators / horn + logging</a:t>
            </a:r>
            <a:endParaRPr lang="en-US" sz="2400"/>
          </a:p>
        </p:txBody>
      </p:sp>
      <p:sp>
        <p:nvSpPr>
          <p:cNvPr id="60" name="Shape 54"/>
          <p:cNvSpPr/>
          <p:nvPr/>
        </p:nvSpPr>
        <p:spPr>
          <a:xfrm>
            <a:off x="914400" y="7818120"/>
            <a:ext cx="13304520" cy="3749040"/>
          </a:xfrm>
          <a:prstGeom prst="roundRect">
            <a:avLst>
              <a:gd name="adj" fmla="val 976"/>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61" name="Shape 55"/>
          <p:cNvSpPr/>
          <p:nvPr/>
        </p:nvSpPr>
        <p:spPr>
          <a:xfrm>
            <a:off x="914400" y="7818120"/>
            <a:ext cx="13304520" cy="566928"/>
          </a:xfrm>
          <a:prstGeom prst="roundRect">
            <a:avLst>
              <a:gd name="adj" fmla="val 6452"/>
            </a:avLst>
          </a:prstGeom>
          <a:solidFill>
            <a:srgbClr val="C1272D"/>
          </a:solidFill>
          <a:ln w="12700">
            <a:solidFill>
              <a:srgbClr val="C1272D"/>
            </a:solidFill>
            <a:prstDash val="solid"/>
          </a:ln>
        </p:spPr>
        <p:txBody>
          <a:bodyPr/>
          <a:lstStyle/>
          <a:p>
            <a:endParaRPr lang="en-US" sz="2000"/>
          </a:p>
        </p:txBody>
      </p:sp>
      <p:sp>
        <p:nvSpPr>
          <p:cNvPr id="62" name="Text 56"/>
          <p:cNvSpPr/>
          <p:nvPr/>
        </p:nvSpPr>
        <p:spPr>
          <a:xfrm>
            <a:off x="1115568" y="7909560"/>
            <a:ext cx="12902184" cy="457200"/>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Problem &amp; Motivation</a:t>
            </a:r>
            <a:endParaRPr lang="en-US" sz="2800"/>
          </a:p>
        </p:txBody>
      </p:sp>
      <p:sp>
        <p:nvSpPr>
          <p:cNvPr id="63" name="Text 57"/>
          <p:cNvSpPr/>
          <p:nvPr/>
        </p:nvSpPr>
        <p:spPr>
          <a:xfrm>
            <a:off x="1133856" y="8494776"/>
            <a:ext cx="12865608" cy="2980944"/>
          </a:xfrm>
          <a:prstGeom prst="rect">
            <a:avLst/>
          </a:prstGeom>
          <a:noFill/>
          <a:ln/>
        </p:spPr>
        <p:txBody>
          <a:bodyPr wrap="square" lIns="1016" tIns="1016" rIns="1016" bIns="1016" rtlCol="0" anchor="t">
            <a:noAutofit/>
          </a:bodyPr>
          <a:lstStyle/>
          <a:p>
            <a:pPr marL="0" indent="0">
              <a:buNone/>
            </a:pPr>
            <a:r>
              <a:rPr lang="en-US" sz="2800">
                <a:solidFill>
                  <a:srgbClr val="1E1E1E"/>
                </a:solidFill>
                <a:latin typeface="Times New Roman" pitchFamily="34" charset="0"/>
                <a:ea typeface="Times New Roman" pitchFamily="34" charset="-122"/>
                <a:cs typeface="Times New Roman" pitchFamily="34" charset="-120"/>
              </a:rPr>
              <a:t>• Upper-limb loss or impairment can make conventional steering difficult or impossible.</a:t>
            </a:r>
            <a:endParaRPr lang="en-US" sz="2800"/>
          </a:p>
          <a:p>
            <a:pPr marL="0" indent="0">
              <a:buNone/>
            </a:pPr>
            <a:r>
              <a:rPr lang="en-US" sz="2800">
                <a:solidFill>
                  <a:srgbClr val="1E1E1E"/>
                </a:solidFill>
                <a:latin typeface="Times New Roman" pitchFamily="34" charset="0"/>
                <a:ea typeface="Times New Roman" pitchFamily="34" charset="-122"/>
                <a:cs typeface="Times New Roman" pitchFamily="34" charset="-120"/>
              </a:rPr>
              <a:t>• Basnet et al. showed single-arm EMG control was feasible, but lane-keeping error, workload, and usability still lagged a steering wheel.</a:t>
            </a:r>
            <a:endParaRPr lang="en-US" sz="2800"/>
          </a:p>
          <a:p>
            <a:pPr marL="0" indent="0">
              <a:buNone/>
            </a:pPr>
            <a:r>
              <a:rPr lang="en-US" sz="2800">
                <a:solidFill>
                  <a:srgbClr val="1E1E1E"/>
                </a:solidFill>
                <a:latin typeface="Times New Roman" pitchFamily="34" charset="0"/>
                <a:ea typeface="Times New Roman" pitchFamily="34" charset="-122"/>
                <a:cs typeface="Times New Roman" pitchFamily="34" charset="-120"/>
              </a:rPr>
              <a:t>• This capstone investigates whether a two-handed EMG interface can provide more natural and more stable control.</a:t>
            </a:r>
            <a:endParaRPr lang="en-US" sz="2800"/>
          </a:p>
          <a:p>
            <a:pPr marL="0" indent="0">
              <a:buNone/>
            </a:pPr>
            <a:r>
              <a:rPr lang="en-US" sz="2800">
                <a:solidFill>
                  <a:srgbClr val="1E1E1E"/>
                </a:solidFill>
                <a:latin typeface="Times New Roman" pitchFamily="34" charset="0"/>
                <a:ea typeface="Times New Roman" pitchFamily="34" charset="-122"/>
                <a:cs typeface="Times New Roman" pitchFamily="34" charset="-120"/>
              </a:rPr>
              <a:t>• The current emphasis is reproducibility: strict placement, matched preprocessing, logged runtime behaviour, and simulator evaluation.</a:t>
            </a:r>
            <a:endParaRPr lang="en-US" sz="2800"/>
          </a:p>
        </p:txBody>
      </p:sp>
      <p:sp>
        <p:nvSpPr>
          <p:cNvPr id="64" name="Shape 58"/>
          <p:cNvSpPr/>
          <p:nvPr/>
        </p:nvSpPr>
        <p:spPr>
          <a:xfrm>
            <a:off x="914400" y="11795760"/>
            <a:ext cx="13304520" cy="3520440"/>
          </a:xfrm>
          <a:prstGeom prst="roundRect">
            <a:avLst>
              <a:gd name="adj" fmla="val 1081"/>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65" name="Shape 59"/>
          <p:cNvSpPr/>
          <p:nvPr/>
        </p:nvSpPr>
        <p:spPr>
          <a:xfrm>
            <a:off x="914400" y="11795760"/>
            <a:ext cx="13304520" cy="566928"/>
          </a:xfrm>
          <a:prstGeom prst="roundRect">
            <a:avLst>
              <a:gd name="adj" fmla="val 6452"/>
            </a:avLst>
          </a:prstGeom>
          <a:solidFill>
            <a:srgbClr val="C1272D"/>
          </a:solidFill>
          <a:ln w="12700">
            <a:solidFill>
              <a:srgbClr val="C1272D"/>
            </a:solidFill>
            <a:prstDash val="solid"/>
          </a:ln>
        </p:spPr>
        <p:txBody>
          <a:bodyPr/>
          <a:lstStyle/>
          <a:p>
            <a:endParaRPr lang="en-US" sz="2000"/>
          </a:p>
        </p:txBody>
      </p:sp>
      <p:sp>
        <p:nvSpPr>
          <p:cNvPr id="66" name="Text 60"/>
          <p:cNvSpPr/>
          <p:nvPr/>
        </p:nvSpPr>
        <p:spPr>
          <a:xfrm>
            <a:off x="1115568" y="11887200"/>
            <a:ext cx="12902184" cy="457200"/>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Project Objectives &amp; Contributions</a:t>
            </a:r>
            <a:endParaRPr lang="en-US" sz="2800"/>
          </a:p>
        </p:txBody>
      </p:sp>
      <p:sp>
        <p:nvSpPr>
          <p:cNvPr id="67" name="Text 61"/>
          <p:cNvSpPr/>
          <p:nvPr/>
        </p:nvSpPr>
        <p:spPr>
          <a:xfrm>
            <a:off x="1133856" y="12472416"/>
            <a:ext cx="12865608" cy="2523744"/>
          </a:xfrm>
          <a:prstGeom prst="rect">
            <a:avLst/>
          </a:prstGeom>
          <a:noFill/>
          <a:ln/>
        </p:spPr>
        <p:txBody>
          <a:bodyPr wrap="square" lIns="1016" tIns="1016" rIns="1016" bIns="1016" rtlCol="0" anchor="t">
            <a:noAutofit/>
          </a:bodyPr>
          <a:lstStyle/>
          <a:p>
            <a:pPr marL="0" indent="0">
              <a:buNone/>
            </a:pPr>
            <a:r>
              <a:rPr lang="en-US" sz="2600">
                <a:solidFill>
                  <a:srgbClr val="1E1E1E"/>
                </a:solidFill>
                <a:latin typeface="Times New Roman" pitchFamily="34" charset="0"/>
                <a:ea typeface="Times New Roman" pitchFamily="34" charset="-122"/>
                <a:cs typeface="Times New Roman" pitchFamily="34" charset="-120"/>
              </a:rPr>
              <a:t>• Build a dual-arm surface EMG interface using Delsys Trigno sensors and a custom Python collection workflow.</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Preserve a stable channel contract across sessions through strict sensor placement by fixed pair number.</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Mirror offline and online preprocessing to avoid train-deploy mismatch.</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Publish steering and discrete driving commands into CARLA, then evaluate offline, latency, and scenario-level performance.</a:t>
            </a:r>
          </a:p>
          <a:p>
            <a:pPr marL="0" indent="0">
              <a:buNone/>
            </a:pPr>
            <a:endParaRPr lang="en-US" sz="2600">
              <a:solidFill>
                <a:srgbClr val="1E1E1E"/>
              </a:solidFill>
              <a:latin typeface="Times New Roman" pitchFamily="34" charset="0"/>
              <a:cs typeface="Times New Roman" pitchFamily="34" charset="-120"/>
            </a:endParaRPr>
          </a:p>
          <a:p>
            <a:pPr marL="0" indent="0">
              <a:buNone/>
            </a:pPr>
            <a:endParaRPr lang="en-US" sz="2600"/>
          </a:p>
        </p:txBody>
      </p:sp>
      <p:sp>
        <p:nvSpPr>
          <p:cNvPr id="68" name="Shape 62"/>
          <p:cNvSpPr/>
          <p:nvPr/>
        </p:nvSpPr>
        <p:spPr>
          <a:xfrm>
            <a:off x="914400" y="15407640"/>
            <a:ext cx="13304520" cy="7269480"/>
          </a:xfrm>
          <a:prstGeom prst="roundRect">
            <a:avLst>
              <a:gd name="adj" fmla="val 503"/>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69" name="Shape 63"/>
          <p:cNvSpPr/>
          <p:nvPr/>
        </p:nvSpPr>
        <p:spPr>
          <a:xfrm>
            <a:off x="914400" y="15407640"/>
            <a:ext cx="13304520" cy="566928"/>
          </a:xfrm>
          <a:prstGeom prst="roundRect">
            <a:avLst>
              <a:gd name="adj" fmla="val 6452"/>
            </a:avLst>
          </a:prstGeom>
          <a:solidFill>
            <a:srgbClr val="C1272D"/>
          </a:solidFill>
          <a:ln w="12700">
            <a:solidFill>
              <a:srgbClr val="C1272D"/>
            </a:solidFill>
            <a:prstDash val="solid"/>
          </a:ln>
        </p:spPr>
        <p:txBody>
          <a:bodyPr/>
          <a:lstStyle/>
          <a:p>
            <a:endParaRPr lang="en-US" sz="2000"/>
          </a:p>
        </p:txBody>
      </p:sp>
      <p:sp>
        <p:nvSpPr>
          <p:cNvPr id="70" name="Text 64"/>
          <p:cNvSpPr/>
          <p:nvPr/>
        </p:nvSpPr>
        <p:spPr>
          <a:xfrm>
            <a:off x="1115568" y="15499080"/>
            <a:ext cx="12902184" cy="457200"/>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Experimental Setup</a:t>
            </a:r>
            <a:endParaRPr lang="en-US" sz="2800"/>
          </a:p>
        </p:txBody>
      </p:sp>
      <p:sp>
        <p:nvSpPr>
          <p:cNvPr id="78" name="Text 71"/>
          <p:cNvSpPr/>
          <p:nvPr/>
        </p:nvSpPr>
        <p:spPr>
          <a:xfrm>
            <a:off x="1133856" y="20958048"/>
            <a:ext cx="12865608" cy="292608"/>
          </a:xfrm>
          <a:prstGeom prst="rect">
            <a:avLst/>
          </a:prstGeom>
          <a:noFill/>
          <a:ln/>
        </p:spPr>
        <p:txBody>
          <a:bodyPr wrap="square" lIns="0" tIns="0" rIns="0" bIns="0" rtlCol="0" anchor="t"/>
          <a:lstStyle/>
          <a:p>
            <a:pPr marL="0" indent="0" algn="ctr">
              <a:buNone/>
            </a:pPr>
            <a:r>
              <a:rPr lang="en-US" sz="2400" i="1">
                <a:solidFill>
                  <a:srgbClr val="666666"/>
                </a:solidFill>
                <a:latin typeface="Times New Roman" pitchFamily="34" charset="0"/>
                <a:ea typeface="Times New Roman" pitchFamily="34" charset="-122"/>
                <a:cs typeface="Times New Roman" pitchFamily="34" charset="-120"/>
              </a:rPr>
              <a:t>Dual-arm EMG driving bench used for realtime testing and simulator integration.</a:t>
            </a:r>
            <a:endParaRPr lang="en-US" sz="2400"/>
          </a:p>
        </p:txBody>
      </p:sp>
      <p:sp>
        <p:nvSpPr>
          <p:cNvPr id="79" name="Text 72"/>
          <p:cNvSpPr/>
          <p:nvPr/>
        </p:nvSpPr>
        <p:spPr>
          <a:xfrm>
            <a:off x="1005840" y="21447252"/>
            <a:ext cx="13213080" cy="850392"/>
          </a:xfrm>
          <a:prstGeom prst="rect">
            <a:avLst/>
          </a:prstGeom>
          <a:noFill/>
          <a:ln/>
        </p:spPr>
        <p:txBody>
          <a:bodyPr wrap="square" lIns="1016" tIns="1016" rIns="1016" bIns="1016" rtlCol="0" anchor="t">
            <a:noAutofit/>
          </a:bodyPr>
          <a:lstStyle/>
          <a:p>
            <a:pPr marL="0" indent="0">
              <a:buNone/>
            </a:pPr>
            <a:r>
              <a:rPr lang="en-US" sz="2500">
                <a:solidFill>
                  <a:srgbClr val="1E1E1E"/>
                </a:solidFill>
                <a:latin typeface="Times New Roman" pitchFamily="34" charset="0"/>
                <a:ea typeface="Times New Roman" pitchFamily="34" charset="-122"/>
                <a:cs typeface="Times New Roman" pitchFamily="34" charset="-120"/>
              </a:rPr>
              <a:t>• Wireless Delsys sensors stream to Python through the Delsys SDK bridge.</a:t>
            </a:r>
            <a:endParaRPr lang="en-US" sz="2500"/>
          </a:p>
          <a:p>
            <a:r>
              <a:rPr lang="en-US" sz="2500">
                <a:solidFill>
                  <a:srgbClr val="1E1E1E"/>
                </a:solidFill>
                <a:latin typeface="Times New Roman" pitchFamily="34" charset="0"/>
                <a:ea typeface="Times New Roman" pitchFamily="34" charset="-122"/>
                <a:cs typeface="Times New Roman" pitchFamily="34" charset="-120"/>
              </a:rPr>
              <a:t>• Real-time inference is integrated with a modified CARLA manual-control client.</a:t>
            </a:r>
            <a:endParaRPr lang="en-US" sz="2500"/>
          </a:p>
          <a:p>
            <a:pPr marL="0" indent="0">
              <a:buNone/>
            </a:pPr>
            <a:r>
              <a:rPr lang="en-US" sz="2500">
                <a:solidFill>
                  <a:srgbClr val="1E1E1E"/>
                </a:solidFill>
                <a:latin typeface="Times New Roman" pitchFamily="34" charset="0"/>
                <a:ea typeface="Times New Roman" pitchFamily="34" charset="-122"/>
                <a:cs typeface="Times New Roman" pitchFamily="34" charset="-120"/>
              </a:rPr>
              <a:t>• Current evaluation scenarios emphasize lane-keeping and overtaking with logged completion state.</a:t>
            </a:r>
            <a:endParaRPr lang="en-US" sz="2500"/>
          </a:p>
        </p:txBody>
      </p:sp>
      <p:sp>
        <p:nvSpPr>
          <p:cNvPr id="80" name="Shape 73"/>
          <p:cNvSpPr/>
          <p:nvPr/>
        </p:nvSpPr>
        <p:spPr>
          <a:xfrm>
            <a:off x="914400" y="22905720"/>
            <a:ext cx="13304520" cy="3063240"/>
          </a:xfrm>
          <a:prstGeom prst="roundRect">
            <a:avLst>
              <a:gd name="adj" fmla="val 1194"/>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81" name="Shape 74"/>
          <p:cNvSpPr/>
          <p:nvPr/>
        </p:nvSpPr>
        <p:spPr>
          <a:xfrm>
            <a:off x="914400" y="22905720"/>
            <a:ext cx="13304520" cy="566928"/>
          </a:xfrm>
          <a:prstGeom prst="roundRect">
            <a:avLst>
              <a:gd name="adj" fmla="val 6452"/>
            </a:avLst>
          </a:prstGeom>
          <a:solidFill>
            <a:srgbClr val="C1272D"/>
          </a:solidFill>
          <a:ln w="12700">
            <a:solidFill>
              <a:srgbClr val="C1272D"/>
            </a:solidFill>
            <a:prstDash val="solid"/>
          </a:ln>
        </p:spPr>
        <p:txBody>
          <a:bodyPr/>
          <a:lstStyle/>
          <a:p>
            <a:endParaRPr lang="en-US" sz="2000"/>
          </a:p>
        </p:txBody>
      </p:sp>
      <p:sp>
        <p:nvSpPr>
          <p:cNvPr id="82" name="Text 75"/>
          <p:cNvSpPr/>
          <p:nvPr/>
        </p:nvSpPr>
        <p:spPr>
          <a:xfrm>
            <a:off x="1115568" y="22997160"/>
            <a:ext cx="12902184" cy="457200"/>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Significance &amp; Research Direction</a:t>
            </a:r>
            <a:endParaRPr lang="en-US" sz="2800"/>
          </a:p>
        </p:txBody>
      </p:sp>
      <p:sp>
        <p:nvSpPr>
          <p:cNvPr id="83" name="Text 76"/>
          <p:cNvSpPr/>
          <p:nvPr/>
        </p:nvSpPr>
        <p:spPr>
          <a:xfrm>
            <a:off x="1133856" y="23582376"/>
            <a:ext cx="12865608" cy="2295144"/>
          </a:xfrm>
          <a:prstGeom prst="rect">
            <a:avLst/>
          </a:prstGeom>
          <a:noFill/>
          <a:ln/>
        </p:spPr>
        <p:txBody>
          <a:bodyPr wrap="square" lIns="1016" tIns="1016" rIns="1016" bIns="1016" rtlCol="0" anchor="t">
            <a:normAutofit/>
          </a:bodyPr>
          <a:lstStyle/>
          <a:p>
            <a:pPr marL="0" indent="0">
              <a:buNone/>
            </a:pPr>
            <a:r>
              <a:rPr lang="en-US" sz="2800">
                <a:solidFill>
                  <a:srgbClr val="1E1E1E"/>
                </a:solidFill>
                <a:latin typeface="Times New Roman" pitchFamily="34" charset="0"/>
                <a:ea typeface="Times New Roman" pitchFamily="34" charset="-122"/>
                <a:cs typeface="Times New Roman" pitchFamily="34" charset="-120"/>
              </a:rPr>
              <a:t>• Assistive driving HMI research requires stable, transparent engineering evidence before any real-vehicle claim.</a:t>
            </a:r>
            <a:endParaRPr lang="en-US" sz="2800"/>
          </a:p>
          <a:p>
            <a:pPr marL="0" indent="0">
              <a:buNone/>
            </a:pPr>
            <a:r>
              <a:rPr lang="en-US" sz="2800">
                <a:solidFill>
                  <a:srgbClr val="1E1E1E"/>
                </a:solidFill>
                <a:latin typeface="Times New Roman" pitchFamily="34" charset="0"/>
                <a:ea typeface="Times New Roman" pitchFamily="34" charset="-122"/>
                <a:cs typeface="Times New Roman" pitchFamily="34" charset="-120"/>
              </a:rPr>
              <a:t>• The strongest current contribution is a defensible simulator-first pipeline that can be repeated, debugged, and extended inside HERO Lab.</a:t>
            </a:r>
            <a:endParaRPr lang="en-US" sz="2800"/>
          </a:p>
        </p:txBody>
      </p:sp>
      <p:sp>
        <p:nvSpPr>
          <p:cNvPr id="84" name="Shape 77"/>
          <p:cNvSpPr/>
          <p:nvPr/>
        </p:nvSpPr>
        <p:spPr>
          <a:xfrm>
            <a:off x="15041880" y="7818120"/>
            <a:ext cx="13304520" cy="7223760"/>
          </a:xfrm>
          <a:prstGeom prst="roundRect">
            <a:avLst>
              <a:gd name="adj" fmla="val 506"/>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85" name="Shape 78"/>
          <p:cNvSpPr/>
          <p:nvPr/>
        </p:nvSpPr>
        <p:spPr>
          <a:xfrm>
            <a:off x="15041880" y="7818120"/>
            <a:ext cx="13304520" cy="566928"/>
          </a:xfrm>
          <a:prstGeom prst="roundRect">
            <a:avLst>
              <a:gd name="adj" fmla="val 6452"/>
            </a:avLst>
          </a:prstGeom>
          <a:solidFill>
            <a:srgbClr val="C1272D"/>
          </a:solidFill>
          <a:ln w="12700">
            <a:solidFill>
              <a:srgbClr val="C1272D"/>
            </a:solidFill>
            <a:prstDash val="solid"/>
          </a:ln>
        </p:spPr>
        <p:txBody>
          <a:bodyPr/>
          <a:lstStyle/>
          <a:p>
            <a:endParaRPr lang="en-US" sz="2000"/>
          </a:p>
        </p:txBody>
      </p:sp>
      <p:sp>
        <p:nvSpPr>
          <p:cNvPr id="86" name="Text 79"/>
          <p:cNvSpPr/>
          <p:nvPr/>
        </p:nvSpPr>
        <p:spPr>
          <a:xfrm>
            <a:off x="15243048" y="7909560"/>
            <a:ext cx="12902184" cy="457200"/>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Sensor Layout &amp; Strict Placement Policy</a:t>
            </a:r>
            <a:endParaRPr lang="en-US" sz="2800"/>
          </a:p>
        </p:txBody>
      </p:sp>
      <p:pic>
        <p:nvPicPr>
          <p:cNvPr id="87" name="Image 5" descr="/mnt/data/IMG_0455 Small.jpeg"/>
          <p:cNvPicPr>
            <a:picLocks noChangeAspect="1"/>
          </p:cNvPicPr>
          <p:nvPr/>
        </p:nvPicPr>
        <p:blipFill>
          <a:blip r:embed="rId8"/>
          <a:srcRect t="1046" b="1046"/>
          <a:stretch/>
        </p:blipFill>
        <p:spPr>
          <a:xfrm>
            <a:off x="15261336" y="8494776"/>
            <a:ext cx="3424428" cy="2514600"/>
          </a:xfrm>
          <a:prstGeom prst="rect">
            <a:avLst/>
          </a:prstGeom>
        </p:spPr>
      </p:pic>
      <p:pic>
        <p:nvPicPr>
          <p:cNvPr id="88" name="Image 6" descr="/mnt/data/IMG_0456 Small.jpeg"/>
          <p:cNvPicPr>
            <a:picLocks noChangeAspect="1"/>
          </p:cNvPicPr>
          <p:nvPr/>
        </p:nvPicPr>
        <p:blipFill>
          <a:blip r:embed="rId9"/>
          <a:srcRect t="1046" b="1046"/>
          <a:stretch/>
        </p:blipFill>
        <p:spPr>
          <a:xfrm>
            <a:off x="18832068" y="8494776"/>
            <a:ext cx="3424428" cy="2514600"/>
          </a:xfrm>
          <a:prstGeom prst="rect">
            <a:avLst/>
          </a:prstGeom>
        </p:spPr>
      </p:pic>
      <p:pic>
        <p:nvPicPr>
          <p:cNvPr id="89" name="Image 7" descr="/mnt/data/IMG_0457 Small.jpeg"/>
          <p:cNvPicPr>
            <a:picLocks noChangeAspect="1"/>
          </p:cNvPicPr>
          <p:nvPr/>
        </p:nvPicPr>
        <p:blipFill>
          <a:blip r:embed="rId10"/>
          <a:srcRect t="1046" b="1046"/>
          <a:stretch/>
        </p:blipFill>
        <p:spPr>
          <a:xfrm>
            <a:off x="15261336" y="11173968"/>
            <a:ext cx="3424428" cy="2514600"/>
          </a:xfrm>
          <a:prstGeom prst="rect">
            <a:avLst/>
          </a:prstGeom>
        </p:spPr>
      </p:pic>
      <p:pic>
        <p:nvPicPr>
          <p:cNvPr id="90" name="Image 8" descr="/mnt/data/IMG_0458 Small.jpeg"/>
          <p:cNvPicPr>
            <a:picLocks noChangeAspect="1"/>
          </p:cNvPicPr>
          <p:nvPr/>
        </p:nvPicPr>
        <p:blipFill>
          <a:blip r:embed="rId11"/>
          <a:srcRect t="1046" b="1046"/>
          <a:stretch/>
        </p:blipFill>
        <p:spPr>
          <a:xfrm>
            <a:off x="18832068" y="11173968"/>
            <a:ext cx="3424428" cy="2514600"/>
          </a:xfrm>
          <a:prstGeom prst="rect">
            <a:avLst/>
          </a:prstGeom>
        </p:spPr>
      </p:pic>
      <p:sp>
        <p:nvSpPr>
          <p:cNvPr id="91" name="Text 80"/>
          <p:cNvSpPr/>
          <p:nvPr/>
        </p:nvSpPr>
        <p:spPr>
          <a:xfrm>
            <a:off x="15261336" y="13743432"/>
            <a:ext cx="6995160" cy="201168"/>
          </a:xfrm>
          <a:prstGeom prst="rect">
            <a:avLst/>
          </a:prstGeom>
          <a:noFill/>
          <a:ln/>
        </p:spPr>
        <p:txBody>
          <a:bodyPr wrap="square" lIns="0" tIns="0" rIns="0" bIns="0" rtlCol="0" anchor="t"/>
          <a:lstStyle/>
          <a:p>
            <a:pPr marL="0" indent="0" algn="ctr">
              <a:buNone/>
            </a:pPr>
            <a:r>
              <a:rPr lang="en-US" i="1">
                <a:solidFill>
                  <a:srgbClr val="666666"/>
                </a:solidFill>
                <a:latin typeface="Times New Roman" pitchFamily="34" charset="0"/>
                <a:ea typeface="Times New Roman" pitchFamily="34" charset="-122"/>
                <a:cs typeface="Times New Roman" pitchFamily="34" charset="-120"/>
              </a:rPr>
              <a:t>Representative forearm placements used </a:t>
            </a:r>
            <a:r>
              <a:rPr lang="en-US" sz="2000" i="1">
                <a:solidFill>
                  <a:srgbClr val="666666"/>
                </a:solidFill>
                <a:latin typeface="Times New Roman" pitchFamily="34" charset="0"/>
                <a:ea typeface="Times New Roman" pitchFamily="34" charset="-122"/>
                <a:cs typeface="Times New Roman" pitchFamily="34" charset="-120"/>
              </a:rPr>
              <a:t>during</a:t>
            </a:r>
            <a:r>
              <a:rPr lang="en-US" i="1">
                <a:solidFill>
                  <a:srgbClr val="666666"/>
                </a:solidFill>
                <a:latin typeface="Times New Roman" pitchFamily="34" charset="0"/>
                <a:ea typeface="Times New Roman" pitchFamily="34" charset="-122"/>
                <a:cs typeface="Times New Roman" pitchFamily="34" charset="-120"/>
              </a:rPr>
              <a:t> protocol </a:t>
            </a:r>
            <a:r>
              <a:rPr lang="en-US" sz="2400" i="1">
                <a:solidFill>
                  <a:srgbClr val="666666"/>
                </a:solidFill>
                <a:latin typeface="Times New Roman" pitchFamily="34" charset="0"/>
                <a:ea typeface="Times New Roman" pitchFamily="34" charset="-122"/>
                <a:cs typeface="Times New Roman" pitchFamily="34" charset="-120"/>
              </a:rPr>
              <a:t>development</a:t>
            </a:r>
            <a:r>
              <a:rPr lang="en-US" i="1">
                <a:solidFill>
                  <a:srgbClr val="666666"/>
                </a:solidFill>
                <a:latin typeface="Times New Roman" pitchFamily="34" charset="0"/>
                <a:ea typeface="Times New Roman" pitchFamily="34" charset="-122"/>
                <a:cs typeface="Times New Roman" pitchFamily="34" charset="-120"/>
              </a:rPr>
              <a:t>.</a:t>
            </a:r>
            <a:endParaRPr lang="en-US"/>
          </a:p>
        </p:txBody>
      </p:sp>
      <p:sp>
        <p:nvSpPr>
          <p:cNvPr id="92" name="Text 81"/>
          <p:cNvSpPr/>
          <p:nvPr/>
        </p:nvSpPr>
        <p:spPr>
          <a:xfrm>
            <a:off x="15302484" y="14135651"/>
            <a:ext cx="6995160" cy="228600"/>
          </a:xfrm>
          <a:prstGeom prst="rect">
            <a:avLst/>
          </a:prstGeom>
          <a:noFill/>
          <a:ln/>
        </p:spPr>
        <p:txBody>
          <a:bodyPr wrap="square" lIns="0" tIns="0" rIns="0" bIns="0" rtlCol="0" anchor="t"/>
          <a:lstStyle/>
          <a:p>
            <a:pPr marL="0" indent="0" algn="ctr">
              <a:buNone/>
            </a:pPr>
            <a:r>
              <a:rPr lang="en-US" sz="2400" b="1">
                <a:solidFill>
                  <a:srgbClr val="9E1C21"/>
                </a:solidFill>
                <a:latin typeface="Times New Roman" pitchFamily="34" charset="0"/>
                <a:ea typeface="Times New Roman" pitchFamily="34" charset="-122"/>
                <a:cs typeface="Times New Roman" pitchFamily="34" charset="-120"/>
              </a:rPr>
              <a:t>Sensor suite used across the strict workflow: Avanti  •  Maize  •  Galileo  •  Mini</a:t>
            </a:r>
            <a:endParaRPr lang="en-US" sz="2400"/>
          </a:p>
        </p:txBody>
      </p:sp>
      <p:sp>
        <p:nvSpPr>
          <p:cNvPr id="93" name="Text 82"/>
          <p:cNvSpPr/>
          <p:nvPr/>
        </p:nvSpPr>
        <p:spPr>
          <a:xfrm>
            <a:off x="22612829" y="8458200"/>
            <a:ext cx="5394960" cy="256032"/>
          </a:xfrm>
          <a:prstGeom prst="rect">
            <a:avLst/>
          </a:prstGeom>
          <a:noFill/>
          <a:ln/>
        </p:spPr>
        <p:txBody>
          <a:bodyPr wrap="square" lIns="0" tIns="0" rIns="0" bIns="0" rtlCol="0" anchor="t"/>
          <a:lstStyle/>
          <a:p>
            <a:pPr marL="0" indent="0">
              <a:buNone/>
            </a:pPr>
            <a:r>
              <a:rPr lang="en-US" sz="2000" b="1">
                <a:solidFill>
                  <a:srgbClr val="9E1C21"/>
                </a:solidFill>
                <a:latin typeface="Times New Roman" pitchFamily="34" charset="0"/>
                <a:ea typeface="Times New Roman" pitchFamily="34" charset="-122"/>
                <a:cs typeface="Times New Roman" pitchFamily="34" charset="-120"/>
              </a:rPr>
              <a:t>Fixed pair-number contract</a:t>
            </a:r>
            <a:endParaRPr lang="en-US" sz="2000"/>
          </a:p>
        </p:txBody>
      </p:sp>
      <p:graphicFrame>
        <p:nvGraphicFramePr>
          <p:cNvPr id="94" name="Table 0"/>
          <p:cNvGraphicFramePr>
            <a:graphicFrameLocks noGrp="1"/>
          </p:cNvGraphicFramePr>
          <p:nvPr>
            <p:extLst>
              <p:ext uri="{D42A27DB-BD31-4B8C-83A1-F6EECF244321}">
                <p14:modId xmlns:p14="http://schemas.microsoft.com/office/powerpoint/2010/main" val="2191192024"/>
              </p:ext>
            </p:extLst>
          </p:nvPr>
        </p:nvGraphicFramePr>
        <p:xfrm>
          <a:off x="22576536" y="8814816"/>
          <a:ext cx="5486400" cy="2286000"/>
        </p:xfrm>
        <a:graphic>
          <a:graphicData uri="http://schemas.openxmlformats.org/drawingml/2006/table">
            <a:tbl>
              <a:tblPr/>
              <a:tblGrid>
                <a:gridCol w="19202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438912">
                <a:tc>
                  <a:txBody>
                    <a:bodyPr/>
                    <a:lstStyle/>
                    <a:p>
                      <a:pPr marL="0" indent="0" algn="ctr">
                        <a:buNone/>
                      </a:pPr>
                      <a:r>
                        <a:rPr lang="en-US" sz="2400" b="1">
                          <a:solidFill>
                            <a:srgbClr val="1E1E1E"/>
                          </a:solidFill>
                          <a:latin typeface="Times New Roman" pitchFamily="34" charset="0"/>
                          <a:ea typeface="Times New Roman" pitchFamily="34" charset="-122"/>
                          <a:cs typeface="Times New Roman" pitchFamily="34" charset="-120"/>
                        </a:rPr>
                        <a:t>Sensor type</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b="1">
                          <a:solidFill>
                            <a:srgbClr val="1E1E1E"/>
                          </a:solidFill>
                          <a:latin typeface="Times New Roman" pitchFamily="34" charset="0"/>
                          <a:ea typeface="Times New Roman" pitchFamily="34" charset="-122"/>
                          <a:cs typeface="Times New Roman" pitchFamily="34" charset="-120"/>
                        </a:rPr>
                        <a:t>Right arm</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b="1">
                          <a:solidFill>
                            <a:srgbClr val="1E1E1E"/>
                          </a:solidFill>
                          <a:latin typeface="Times New Roman" pitchFamily="34" charset="0"/>
                          <a:ea typeface="Times New Roman" pitchFamily="34" charset="-122"/>
                          <a:cs typeface="Times New Roman" pitchFamily="34" charset="-120"/>
                        </a:rPr>
                        <a:t>Left arm</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extLst>
                  <a:ext uri="{0D108BD9-81ED-4DB2-BD59-A6C34878D82A}">
                    <a16:rowId xmlns:a16="http://schemas.microsoft.com/office/drawing/2014/main" val="10000"/>
                  </a:ext>
                </a:extLst>
              </a:tr>
              <a:tr h="438912">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Avanti</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1, 2, 3</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4, 5, 6</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extLst>
                  <a:ext uri="{0D108BD9-81ED-4DB2-BD59-A6C34878D82A}">
                    <a16:rowId xmlns:a16="http://schemas.microsoft.com/office/drawing/2014/main" val="10001"/>
                  </a:ext>
                </a:extLst>
              </a:tr>
              <a:tr h="438912">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Maize</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7</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8</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extLst>
                  <a:ext uri="{0D108BD9-81ED-4DB2-BD59-A6C34878D82A}">
                    <a16:rowId xmlns:a16="http://schemas.microsoft.com/office/drawing/2014/main" val="10002"/>
                  </a:ext>
                </a:extLst>
              </a:tr>
              <a:tr h="438912">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Galileo</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9</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10</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extLst>
                  <a:ext uri="{0D108BD9-81ED-4DB2-BD59-A6C34878D82A}">
                    <a16:rowId xmlns:a16="http://schemas.microsoft.com/office/drawing/2014/main" val="10003"/>
                  </a:ext>
                </a:extLst>
              </a:tr>
              <a:tr h="438912">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Mini</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11</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tc>
                  <a:txBody>
                    <a:bodyPr/>
                    <a:lstStyle/>
                    <a:p>
                      <a:pPr marL="0" indent="0" algn="ctr">
                        <a:buNone/>
                      </a:pPr>
                      <a:r>
                        <a:rPr lang="en-US" sz="2400">
                          <a:solidFill>
                            <a:srgbClr val="1E1E1E"/>
                          </a:solidFill>
                          <a:latin typeface="Times New Roman" pitchFamily="34" charset="0"/>
                          <a:ea typeface="Times New Roman" pitchFamily="34" charset="-122"/>
                          <a:cs typeface="Times New Roman" pitchFamily="34" charset="-120"/>
                        </a:rPr>
                        <a:t>-</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6E8"/>
                    </a:solidFill>
                  </a:tcPr>
                </a:tc>
                <a:extLst>
                  <a:ext uri="{0D108BD9-81ED-4DB2-BD59-A6C34878D82A}">
                    <a16:rowId xmlns:a16="http://schemas.microsoft.com/office/drawing/2014/main" val="10004"/>
                  </a:ext>
                </a:extLst>
              </a:tr>
            </a:tbl>
          </a:graphicData>
        </a:graphic>
      </p:graphicFrame>
      <p:sp>
        <p:nvSpPr>
          <p:cNvPr id="95" name="Text 83"/>
          <p:cNvSpPr/>
          <p:nvPr/>
        </p:nvSpPr>
        <p:spPr>
          <a:xfrm>
            <a:off x="22576536" y="11420856"/>
            <a:ext cx="5769864" cy="2148840"/>
          </a:xfrm>
          <a:prstGeom prst="rect">
            <a:avLst/>
          </a:prstGeom>
          <a:noFill/>
          <a:ln/>
        </p:spPr>
        <p:txBody>
          <a:bodyPr wrap="square" lIns="1016" tIns="1016" rIns="1016" bIns="1016" rtlCol="0" anchor="t">
            <a:noAutofit/>
          </a:bodyPr>
          <a:lstStyle/>
          <a:p>
            <a:r>
              <a:rPr lang="en-US" sz="2600">
                <a:solidFill>
                  <a:srgbClr val="1E1E1E"/>
                </a:solidFill>
                <a:latin typeface="Times New Roman" pitchFamily="34" charset="0"/>
                <a:ea typeface="Times New Roman" pitchFamily="34" charset="-122"/>
                <a:cs typeface="Times New Roman" pitchFamily="34" charset="-120"/>
              </a:rPr>
              <a:t>• Right arm resolves to 17 strict channels; left arm resolves to 16 strict channels.</a:t>
            </a:r>
            <a:endParaRPr lang="en-US" sz="2600"/>
          </a:p>
          <a:p>
            <a:r>
              <a:rPr lang="en-US" sz="2600">
                <a:solidFill>
                  <a:srgbClr val="1E1E1E"/>
                </a:solidFill>
                <a:latin typeface="Times New Roman" pitchFamily="34" charset="0"/>
                <a:ea typeface="Times New Roman" pitchFamily="34" charset="-122"/>
                <a:cs typeface="Times New Roman" pitchFamily="34" charset="-120"/>
              </a:rPr>
              <a:t>• Pair identity is preserved during both training and inference, so channel meaning cannot drift between sessions.</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This strict layout replaces mixed historical layouts that degraded cross-session reproducibility.</a:t>
            </a:r>
            <a:endParaRPr lang="en-US" sz="2600"/>
          </a:p>
        </p:txBody>
      </p:sp>
      <p:sp>
        <p:nvSpPr>
          <p:cNvPr id="96" name="Shape 84"/>
          <p:cNvSpPr/>
          <p:nvPr/>
        </p:nvSpPr>
        <p:spPr>
          <a:xfrm>
            <a:off x="15041880" y="15316200"/>
            <a:ext cx="13304520" cy="3977640"/>
          </a:xfrm>
          <a:prstGeom prst="roundRect">
            <a:avLst>
              <a:gd name="adj" fmla="val 920"/>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97" name="Shape 85"/>
          <p:cNvSpPr/>
          <p:nvPr/>
        </p:nvSpPr>
        <p:spPr>
          <a:xfrm>
            <a:off x="15041880" y="15316200"/>
            <a:ext cx="13304520" cy="566928"/>
          </a:xfrm>
          <a:prstGeom prst="roundRect">
            <a:avLst>
              <a:gd name="adj" fmla="val 6452"/>
            </a:avLst>
          </a:prstGeom>
          <a:solidFill>
            <a:srgbClr val="C1272D"/>
          </a:solidFill>
          <a:ln w="12700">
            <a:solidFill>
              <a:srgbClr val="C1272D"/>
            </a:solidFill>
            <a:prstDash val="solid"/>
          </a:ln>
        </p:spPr>
        <p:txBody>
          <a:bodyPr/>
          <a:lstStyle/>
          <a:p>
            <a:endParaRPr lang="en-US"/>
          </a:p>
        </p:txBody>
      </p:sp>
      <p:sp>
        <p:nvSpPr>
          <p:cNvPr id="98" name="Text 86"/>
          <p:cNvSpPr/>
          <p:nvPr/>
        </p:nvSpPr>
        <p:spPr>
          <a:xfrm>
            <a:off x="15243048" y="15407640"/>
            <a:ext cx="12902184" cy="457200"/>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Data Collection Protocol</a:t>
            </a:r>
            <a:endParaRPr lang="en-US" sz="2800"/>
          </a:p>
        </p:txBody>
      </p:sp>
      <p:sp>
        <p:nvSpPr>
          <p:cNvPr id="99" name="Shape 87"/>
          <p:cNvSpPr/>
          <p:nvPr/>
        </p:nvSpPr>
        <p:spPr>
          <a:xfrm>
            <a:off x="15261336" y="15992856"/>
            <a:ext cx="6263640" cy="3063240"/>
          </a:xfrm>
          <a:prstGeom prst="roundRect">
            <a:avLst>
              <a:gd name="adj" fmla="val 1194"/>
            </a:avLst>
          </a:prstGeom>
          <a:solidFill>
            <a:srgbClr val="FFFFFF"/>
          </a:solidFill>
          <a:ln w="12700">
            <a:solidFill>
              <a:srgbClr val="F5A623"/>
            </a:solidFill>
            <a:prstDash val="solid"/>
          </a:ln>
        </p:spPr>
        <p:txBody>
          <a:bodyPr/>
          <a:lstStyle/>
          <a:p>
            <a:r>
              <a:rPr lang="en-US" sz="2600"/>
              <a:t>2</a:t>
            </a:r>
          </a:p>
          <a:p>
            <a:endParaRPr lang="en-US" sz="2600"/>
          </a:p>
        </p:txBody>
      </p:sp>
      <p:sp>
        <p:nvSpPr>
          <p:cNvPr id="100" name="Shape 88"/>
          <p:cNvSpPr/>
          <p:nvPr/>
        </p:nvSpPr>
        <p:spPr>
          <a:xfrm>
            <a:off x="21845016" y="15992856"/>
            <a:ext cx="6263640" cy="3063240"/>
          </a:xfrm>
          <a:prstGeom prst="roundRect">
            <a:avLst>
              <a:gd name="adj" fmla="val 1194"/>
            </a:avLst>
          </a:prstGeom>
          <a:solidFill>
            <a:srgbClr val="FFFFFF"/>
          </a:solidFill>
          <a:ln w="12700">
            <a:solidFill>
              <a:srgbClr val="F5A623"/>
            </a:solidFill>
            <a:prstDash val="solid"/>
          </a:ln>
        </p:spPr>
        <p:txBody>
          <a:bodyPr/>
          <a:lstStyle/>
          <a:p>
            <a:endParaRPr lang="en-US" sz="2800"/>
          </a:p>
        </p:txBody>
      </p:sp>
      <p:sp>
        <p:nvSpPr>
          <p:cNvPr id="101" name="Text 89"/>
          <p:cNvSpPr/>
          <p:nvPr/>
        </p:nvSpPr>
        <p:spPr>
          <a:xfrm>
            <a:off x="15389352" y="16066008"/>
            <a:ext cx="5943600" cy="256032"/>
          </a:xfrm>
          <a:prstGeom prst="rect">
            <a:avLst/>
          </a:prstGeom>
          <a:noFill/>
          <a:ln/>
        </p:spPr>
        <p:txBody>
          <a:bodyPr wrap="square" lIns="0" tIns="0" rIns="0" bIns="0" rtlCol="0" anchor="t"/>
          <a:lstStyle/>
          <a:p>
            <a:pPr marL="0" indent="0">
              <a:buNone/>
            </a:pPr>
            <a:r>
              <a:rPr lang="en-US" sz="2400" b="1">
                <a:solidFill>
                  <a:srgbClr val="9E1C21"/>
                </a:solidFill>
                <a:latin typeface="Times New Roman" pitchFamily="34" charset="0"/>
                <a:ea typeface="Times New Roman" pitchFamily="34" charset="-122"/>
                <a:cs typeface="Times New Roman" pitchFamily="34" charset="-120"/>
              </a:rPr>
              <a:t>Standard session</a:t>
            </a:r>
            <a:endParaRPr lang="en-US" sz="2400"/>
          </a:p>
        </p:txBody>
      </p:sp>
      <p:sp>
        <p:nvSpPr>
          <p:cNvPr id="102" name="Text 90"/>
          <p:cNvSpPr/>
          <p:nvPr/>
        </p:nvSpPr>
        <p:spPr>
          <a:xfrm>
            <a:off x="15348204" y="16459200"/>
            <a:ext cx="5989320" cy="2468880"/>
          </a:xfrm>
          <a:prstGeom prst="rect">
            <a:avLst/>
          </a:prstGeom>
          <a:noFill/>
          <a:ln/>
        </p:spPr>
        <p:txBody>
          <a:bodyPr wrap="square" lIns="1016" tIns="1016" rIns="1016" bIns="1016" rtlCol="0" anchor="t">
            <a:normAutofit/>
          </a:bodyPr>
          <a:lstStyle/>
          <a:p>
            <a:pPr marL="0" indent="0">
              <a:buNone/>
            </a:pPr>
            <a:r>
              <a:rPr lang="en-US" sz="2600">
                <a:solidFill>
                  <a:srgbClr val="1E1E1E"/>
                </a:solidFill>
                <a:latin typeface="Times New Roman" pitchFamily="34" charset="0"/>
                <a:ea typeface="Times New Roman" pitchFamily="34" charset="-122"/>
                <a:cs typeface="Times New Roman" pitchFamily="34" charset="-120"/>
              </a:rPr>
              <a:t>• Gestures: left_turn, right_turn, neutral, signal_left, signal_right, horn</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5 s gesture + 5 s neutral</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5 repetitions per session</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Calibration enabled: 5 s neutral rest + 5 s MVC</a:t>
            </a:r>
            <a:endParaRPr lang="en-US" sz="2600"/>
          </a:p>
        </p:txBody>
      </p:sp>
      <p:sp>
        <p:nvSpPr>
          <p:cNvPr id="103" name="Text 91"/>
          <p:cNvSpPr/>
          <p:nvPr/>
        </p:nvSpPr>
        <p:spPr>
          <a:xfrm>
            <a:off x="21973032" y="16066008"/>
            <a:ext cx="5943600" cy="256032"/>
          </a:xfrm>
          <a:prstGeom prst="rect">
            <a:avLst/>
          </a:prstGeom>
          <a:noFill/>
          <a:ln/>
        </p:spPr>
        <p:txBody>
          <a:bodyPr wrap="square" lIns="0" tIns="0" rIns="0" bIns="0" rtlCol="0" anchor="t"/>
          <a:lstStyle/>
          <a:p>
            <a:pPr marL="0" indent="0">
              <a:buNone/>
            </a:pPr>
            <a:r>
              <a:rPr lang="en-US" sz="2400" b="1">
                <a:solidFill>
                  <a:srgbClr val="9E1C21"/>
                </a:solidFill>
                <a:latin typeface="Times New Roman" pitchFamily="34" charset="0"/>
                <a:ea typeface="Times New Roman" pitchFamily="34" charset="-122"/>
                <a:cs typeface="Times New Roman" pitchFamily="34" charset="-120"/>
              </a:rPr>
              <a:t>Neutral-recovery session</a:t>
            </a:r>
            <a:endParaRPr lang="en-US" sz="2400"/>
          </a:p>
        </p:txBody>
      </p:sp>
      <p:sp>
        <p:nvSpPr>
          <p:cNvPr id="104" name="Text 92"/>
          <p:cNvSpPr/>
          <p:nvPr/>
        </p:nvSpPr>
        <p:spPr>
          <a:xfrm>
            <a:off x="21945600" y="16499667"/>
            <a:ext cx="5989320" cy="2468880"/>
          </a:xfrm>
          <a:prstGeom prst="rect">
            <a:avLst/>
          </a:prstGeom>
          <a:noFill/>
          <a:ln/>
        </p:spPr>
        <p:txBody>
          <a:bodyPr wrap="square" lIns="1016" tIns="1016" rIns="1016" bIns="1016" rtlCol="0" anchor="t">
            <a:normAutofit/>
          </a:bodyPr>
          <a:lstStyle/>
          <a:p>
            <a:pPr marL="0" indent="0">
              <a:buNone/>
            </a:pPr>
            <a:r>
              <a:rPr lang="en-US" sz="2600">
                <a:solidFill>
                  <a:srgbClr val="1E1E1E"/>
                </a:solidFill>
                <a:latin typeface="Times New Roman" pitchFamily="34" charset="0"/>
                <a:ea typeface="Times New Roman" pitchFamily="34" charset="-122"/>
                <a:cs typeface="Times New Roman" pitchFamily="34" charset="-120"/>
              </a:rPr>
              <a:t>• Sequences: left_turn -&gt; neutral and right_turn -&gt; neutral</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3 s gesture + 5 s neutral</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6 repetitions</a:t>
            </a:r>
            <a:endParaRPr lang="en-US" sz="2600"/>
          </a:p>
          <a:p>
            <a:pPr marL="0" indent="0">
              <a:buNone/>
            </a:pPr>
            <a:r>
              <a:rPr lang="en-US" sz="2600">
                <a:solidFill>
                  <a:srgbClr val="1E1E1E"/>
                </a:solidFill>
                <a:latin typeface="Times New Roman" pitchFamily="34" charset="0"/>
                <a:ea typeface="Times New Roman" pitchFamily="34" charset="-122"/>
                <a:cs typeface="Times New Roman" pitchFamily="34" charset="-120"/>
              </a:rPr>
              <a:t>• Added specifically to improve return-to-neutral stability</a:t>
            </a:r>
            <a:endParaRPr lang="en-US" sz="2600"/>
          </a:p>
        </p:txBody>
      </p:sp>
      <p:sp>
        <p:nvSpPr>
          <p:cNvPr id="105" name="Shape 93"/>
          <p:cNvSpPr/>
          <p:nvPr/>
        </p:nvSpPr>
        <p:spPr>
          <a:xfrm>
            <a:off x="15041880" y="19522440"/>
            <a:ext cx="13304520" cy="3931920"/>
          </a:xfrm>
          <a:prstGeom prst="roundRect">
            <a:avLst>
              <a:gd name="adj" fmla="val 1013"/>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106" name="Shape 94"/>
          <p:cNvSpPr/>
          <p:nvPr/>
        </p:nvSpPr>
        <p:spPr>
          <a:xfrm>
            <a:off x="15041880" y="19522440"/>
            <a:ext cx="13304520" cy="566928"/>
          </a:xfrm>
          <a:prstGeom prst="roundRect">
            <a:avLst>
              <a:gd name="adj" fmla="val 6452"/>
            </a:avLst>
          </a:prstGeom>
          <a:solidFill>
            <a:srgbClr val="C1272D"/>
          </a:solidFill>
          <a:ln w="12700">
            <a:solidFill>
              <a:srgbClr val="C1272D"/>
            </a:solidFill>
            <a:prstDash val="solid"/>
          </a:ln>
        </p:spPr>
        <p:txBody>
          <a:bodyPr/>
          <a:lstStyle/>
          <a:p>
            <a:endParaRPr lang="en-US"/>
          </a:p>
        </p:txBody>
      </p:sp>
      <p:sp>
        <p:nvSpPr>
          <p:cNvPr id="107" name="Text 95"/>
          <p:cNvSpPr/>
          <p:nvPr/>
        </p:nvSpPr>
        <p:spPr>
          <a:xfrm>
            <a:off x="15243048" y="19613880"/>
            <a:ext cx="12902184" cy="457200"/>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Gesture Set &amp; Command Mapping</a:t>
            </a:r>
            <a:endParaRPr lang="en-US" sz="2800"/>
          </a:p>
        </p:txBody>
      </p:sp>
      <p:graphicFrame>
        <p:nvGraphicFramePr>
          <p:cNvPr id="108" name="Table 1"/>
          <p:cNvGraphicFramePr>
            <a:graphicFrameLocks noGrp="1"/>
          </p:cNvGraphicFramePr>
          <p:nvPr>
            <p:extLst>
              <p:ext uri="{D42A27DB-BD31-4B8C-83A1-F6EECF244321}">
                <p14:modId xmlns:p14="http://schemas.microsoft.com/office/powerpoint/2010/main" val="1950928043"/>
              </p:ext>
            </p:extLst>
          </p:nvPr>
        </p:nvGraphicFramePr>
        <p:xfrm>
          <a:off x="15261336" y="20244816"/>
          <a:ext cx="12627863" cy="3093720"/>
        </p:xfrm>
        <a:graphic>
          <a:graphicData uri="http://schemas.openxmlformats.org/drawingml/2006/table">
            <a:tbl>
              <a:tblPr/>
              <a:tblGrid>
                <a:gridCol w="1741606">
                  <a:extLst>
                    <a:ext uri="{9D8B030D-6E8A-4147-A177-3AD203B41FA5}">
                      <a16:colId xmlns:a16="http://schemas.microsoft.com/office/drawing/2014/main" val="20000"/>
                    </a:ext>
                  </a:extLst>
                </a:gridCol>
                <a:gridCol w="7990406">
                  <a:extLst>
                    <a:ext uri="{9D8B030D-6E8A-4147-A177-3AD203B41FA5}">
                      <a16:colId xmlns:a16="http://schemas.microsoft.com/office/drawing/2014/main" val="20001"/>
                    </a:ext>
                  </a:extLst>
                </a:gridCol>
                <a:gridCol w="2895851">
                  <a:extLst>
                    <a:ext uri="{9D8B030D-6E8A-4147-A177-3AD203B41FA5}">
                      <a16:colId xmlns:a16="http://schemas.microsoft.com/office/drawing/2014/main" val="20002"/>
                    </a:ext>
                  </a:extLst>
                </a:gridCol>
              </a:tblGrid>
              <a:tr h="379566">
                <a:tc>
                  <a:txBody>
                    <a:bodyPr/>
                    <a:lstStyle/>
                    <a:p>
                      <a:pPr marL="0" indent="0" algn="l">
                        <a:buNone/>
                      </a:pPr>
                      <a:r>
                        <a:rPr lang="en-US" sz="2300" b="1">
                          <a:solidFill>
                            <a:srgbClr val="000000"/>
                          </a:solidFill>
                          <a:latin typeface="Times New Roman" pitchFamily="34" charset="0"/>
                          <a:ea typeface="Times New Roman" pitchFamily="34" charset="-122"/>
                          <a:cs typeface="Times New Roman" pitchFamily="34" charset="-120"/>
                        </a:rPr>
                        <a:t>Gesture</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b="1">
                          <a:solidFill>
                            <a:srgbClr val="000000"/>
                          </a:solidFill>
                          <a:latin typeface="Times New Roman" pitchFamily="34" charset="0"/>
                          <a:ea typeface="Times New Roman" pitchFamily="34" charset="-122"/>
                          <a:cs typeface="Times New Roman" pitchFamily="34" charset="-120"/>
                        </a:rPr>
                        <a:t>Mapped action</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b="1">
                          <a:solidFill>
                            <a:srgbClr val="000000"/>
                          </a:solidFill>
                          <a:latin typeface="Times New Roman" pitchFamily="34" charset="0"/>
                          <a:ea typeface="Times New Roman" pitchFamily="34" charset="-122"/>
                          <a:cs typeface="Times New Roman" pitchFamily="34" charset="-120"/>
                        </a:rPr>
                        <a:t>Status</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9566">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neutral</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Maintain heading / hold lane</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active</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9566">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left_turn</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Steer left</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active</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9566">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right_turn</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Steer right</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active</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9566">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signal_left</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Left indicator</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expanded set</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9566">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signal_right</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Right indicator</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l">
                        <a:buNone/>
                      </a:pPr>
                      <a:r>
                        <a:rPr lang="en-US" sz="2300">
                          <a:solidFill>
                            <a:srgbClr val="000000"/>
                          </a:solidFill>
                          <a:latin typeface="Times New Roman" pitchFamily="34" charset="0"/>
                          <a:ea typeface="Times New Roman" pitchFamily="34" charset="-122"/>
                          <a:cs typeface="Times New Roman" pitchFamily="34" charset="-120"/>
                        </a:rPr>
                        <a:t>expanded set</a:t>
                      </a:r>
                      <a:endParaRPr lang="en-US" sz="23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9566">
                <a:tc>
                  <a:txBody>
                    <a:bodyPr/>
                    <a:lstStyle/>
                    <a:p>
                      <a:pPr marL="0" indent="0" algn="l">
                        <a:buNone/>
                      </a:pPr>
                      <a:r>
                        <a:rPr lang="en-US" sz="2300">
                          <a:solidFill>
                            <a:srgbClr val="000000"/>
                          </a:solidFill>
                          <a:latin typeface="Times New Roman"/>
                          <a:ea typeface="Times New Roman" charset="0"/>
                          <a:cs typeface="Times New Roman"/>
                        </a:rPr>
                        <a:t>Reverse</a:t>
                      </a: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lvl="0" indent="0" algn="l">
                        <a:buNone/>
                      </a:pPr>
                      <a:r>
                        <a:rPr lang="en-US" sz="2300">
                          <a:solidFill>
                            <a:srgbClr val="000000"/>
                          </a:solidFill>
                          <a:latin typeface="Times New Roman"/>
                          <a:cs typeface="Times New Roman"/>
                        </a:rPr>
                        <a:t>Reverse gear</a:t>
                      </a:r>
                      <a:endParaRPr lang="en-US"/>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lvl="0" indent="0" algn="l">
                        <a:buNone/>
                      </a:pPr>
                      <a:r>
                        <a:rPr lang="en-US" sz="2300">
                          <a:solidFill>
                            <a:srgbClr val="000000"/>
                          </a:solidFill>
                          <a:latin typeface="Times New Roman"/>
                          <a:cs typeface="Times New Roman"/>
                        </a:rPr>
                        <a:t>active</a:t>
                      </a:r>
                      <a:endParaRPr lang="en-US"/>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1" name="Shape 98"/>
          <p:cNvSpPr/>
          <p:nvPr/>
        </p:nvSpPr>
        <p:spPr>
          <a:xfrm>
            <a:off x="15041880" y="23792688"/>
            <a:ext cx="13304520" cy="2606040"/>
          </a:xfrm>
          <a:prstGeom prst="roundRect">
            <a:avLst>
              <a:gd name="adj" fmla="val 1404"/>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112" name="Shape 99"/>
          <p:cNvSpPr/>
          <p:nvPr/>
        </p:nvSpPr>
        <p:spPr>
          <a:xfrm>
            <a:off x="15023592" y="23564088"/>
            <a:ext cx="13304520" cy="566928"/>
          </a:xfrm>
          <a:prstGeom prst="roundRect">
            <a:avLst>
              <a:gd name="adj" fmla="val 6452"/>
            </a:avLst>
          </a:prstGeom>
          <a:solidFill>
            <a:srgbClr val="C1272D"/>
          </a:solidFill>
          <a:ln w="12700">
            <a:solidFill>
              <a:srgbClr val="C1272D"/>
            </a:solidFill>
            <a:prstDash val="solid"/>
          </a:ln>
        </p:spPr>
        <p:txBody>
          <a:bodyPr/>
          <a:lstStyle/>
          <a:p>
            <a:endParaRPr lang="en-US" sz="2000"/>
          </a:p>
        </p:txBody>
      </p:sp>
      <p:sp>
        <p:nvSpPr>
          <p:cNvPr id="113" name="Text 100"/>
          <p:cNvSpPr/>
          <p:nvPr/>
        </p:nvSpPr>
        <p:spPr>
          <a:xfrm>
            <a:off x="15243048" y="23582376"/>
            <a:ext cx="12902184" cy="457200"/>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Hardware / Software Stack</a:t>
            </a:r>
            <a:endParaRPr lang="en-US" sz="2800"/>
          </a:p>
        </p:txBody>
      </p:sp>
      <p:graphicFrame>
        <p:nvGraphicFramePr>
          <p:cNvPr id="114" name="Table 2"/>
          <p:cNvGraphicFramePr>
            <a:graphicFrameLocks noGrp="1"/>
          </p:cNvGraphicFramePr>
          <p:nvPr>
            <p:extLst>
              <p:ext uri="{D42A27DB-BD31-4B8C-83A1-F6EECF244321}">
                <p14:modId xmlns:p14="http://schemas.microsoft.com/office/powerpoint/2010/main" val="3520269328"/>
              </p:ext>
            </p:extLst>
          </p:nvPr>
        </p:nvGraphicFramePr>
        <p:xfrm>
          <a:off x="15243048" y="24259032"/>
          <a:ext cx="12378707" cy="1889760"/>
        </p:xfrm>
        <a:graphic>
          <a:graphicData uri="http://schemas.openxmlformats.org/drawingml/2006/table">
            <a:tbl>
              <a:tblPr/>
              <a:tblGrid>
                <a:gridCol w="1548765">
                  <a:extLst>
                    <a:ext uri="{9D8B030D-6E8A-4147-A177-3AD203B41FA5}">
                      <a16:colId xmlns:a16="http://schemas.microsoft.com/office/drawing/2014/main" val="20000"/>
                    </a:ext>
                  </a:extLst>
                </a:gridCol>
                <a:gridCol w="10829942">
                  <a:extLst>
                    <a:ext uri="{9D8B030D-6E8A-4147-A177-3AD203B41FA5}">
                      <a16:colId xmlns:a16="http://schemas.microsoft.com/office/drawing/2014/main" val="20001"/>
                    </a:ext>
                  </a:extLst>
                </a:gridCol>
              </a:tblGrid>
              <a:tr h="454914">
                <a:tc>
                  <a:txBody>
                    <a:bodyPr/>
                    <a:lstStyle/>
                    <a:p>
                      <a:pPr marL="0" indent="0">
                        <a:buNone/>
                      </a:pPr>
                      <a:r>
                        <a:rPr lang="en-US" sz="2500">
                          <a:solidFill>
                            <a:srgbClr val="000000"/>
                          </a:solidFill>
                          <a:latin typeface="Times New Roman" pitchFamily="34" charset="0"/>
                          <a:ea typeface="Times New Roman" pitchFamily="34" charset="-122"/>
                          <a:cs typeface="Times New Roman" pitchFamily="34" charset="-120"/>
                        </a:rPr>
                        <a:t>Sensors</a:t>
                      </a:r>
                      <a:endParaRPr lang="en-US" sz="25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500">
                          <a:solidFill>
                            <a:srgbClr val="000000"/>
                          </a:solidFill>
                          <a:latin typeface="Times New Roman" pitchFamily="34" charset="0"/>
                          <a:ea typeface="Times New Roman" pitchFamily="34" charset="-122"/>
                          <a:cs typeface="Times New Roman" pitchFamily="34" charset="-120"/>
                        </a:rPr>
                        <a:t>Delsys Trigno hardware + custom Python GUI</a:t>
                      </a:r>
                      <a:endParaRPr lang="en-US" sz="25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4914">
                <a:tc>
                  <a:txBody>
                    <a:bodyPr/>
                    <a:lstStyle/>
                    <a:p>
                      <a:pPr marL="0" indent="0">
                        <a:buNone/>
                      </a:pPr>
                      <a:r>
                        <a:rPr lang="en-US" sz="2500">
                          <a:solidFill>
                            <a:srgbClr val="000000"/>
                          </a:solidFill>
                          <a:latin typeface="Times New Roman" pitchFamily="34" charset="0"/>
                          <a:ea typeface="Times New Roman" pitchFamily="34" charset="-122"/>
                          <a:cs typeface="Times New Roman" pitchFamily="34" charset="-120"/>
                        </a:rPr>
                        <a:t>Processing</a:t>
                      </a:r>
                      <a:endParaRPr lang="en-US" sz="25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500">
                          <a:solidFill>
                            <a:srgbClr val="000000"/>
                          </a:solidFill>
                          <a:latin typeface="Times New Roman" pitchFamily="34" charset="0"/>
                          <a:ea typeface="Times New Roman" pitchFamily="34" charset="-122"/>
                          <a:cs typeface="Times New Roman" pitchFamily="34" charset="-120"/>
                        </a:rPr>
                        <a:t>NumPy, SciPy, libEMG, resampling + filtering</a:t>
                      </a:r>
                      <a:endParaRPr lang="en-US" sz="25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4914">
                <a:tc>
                  <a:txBody>
                    <a:bodyPr/>
                    <a:lstStyle/>
                    <a:p>
                      <a:pPr marL="0" indent="0">
                        <a:buNone/>
                      </a:pPr>
                      <a:r>
                        <a:rPr lang="en-US" sz="2500">
                          <a:solidFill>
                            <a:srgbClr val="000000"/>
                          </a:solidFill>
                          <a:latin typeface="Times New Roman" pitchFamily="34" charset="0"/>
                          <a:ea typeface="Times New Roman" pitchFamily="34" charset="-122"/>
                          <a:cs typeface="Times New Roman" pitchFamily="34" charset="-120"/>
                        </a:rPr>
                        <a:t>Learning</a:t>
                      </a:r>
                      <a:endParaRPr lang="en-US" sz="25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500">
                          <a:solidFill>
                            <a:srgbClr val="000000"/>
                          </a:solidFill>
                          <a:latin typeface="Times New Roman" pitchFamily="34" charset="0"/>
                          <a:ea typeface="Times New Roman" pitchFamily="34" charset="-122"/>
                          <a:cs typeface="Times New Roman" pitchFamily="34" charset="-120"/>
                        </a:rPr>
                        <a:t>PyTorch GestureCNNv2</a:t>
                      </a:r>
                      <a:endParaRPr lang="en-US" sz="25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4914">
                <a:tc>
                  <a:txBody>
                    <a:bodyPr/>
                    <a:lstStyle/>
                    <a:p>
                      <a:pPr marL="0" indent="0">
                        <a:buNone/>
                      </a:pPr>
                      <a:r>
                        <a:rPr lang="en-US" sz="2500">
                          <a:solidFill>
                            <a:srgbClr val="000000"/>
                          </a:solidFill>
                          <a:latin typeface="Times New Roman" pitchFamily="34" charset="0"/>
                          <a:ea typeface="Times New Roman" pitchFamily="34" charset="-122"/>
                          <a:cs typeface="Times New Roman" pitchFamily="34" charset="-120"/>
                        </a:rPr>
                        <a:t>Simulator</a:t>
                      </a:r>
                      <a:endParaRPr lang="en-US" sz="25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500">
                          <a:solidFill>
                            <a:srgbClr val="000000"/>
                          </a:solidFill>
                          <a:latin typeface="Times New Roman" pitchFamily="34" charset="0"/>
                          <a:ea typeface="Times New Roman" pitchFamily="34" charset="-122"/>
                          <a:cs typeface="Times New Roman" pitchFamily="34" charset="-120"/>
                        </a:rPr>
                        <a:t>Python client + CARLA control and logging</a:t>
                      </a:r>
                      <a:endParaRPr lang="en-US" sz="25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5" name="Shape 101"/>
          <p:cNvSpPr/>
          <p:nvPr/>
        </p:nvSpPr>
        <p:spPr>
          <a:xfrm>
            <a:off x="29169360" y="7818120"/>
            <a:ext cx="13304520" cy="4526280"/>
          </a:xfrm>
          <a:prstGeom prst="roundRect">
            <a:avLst>
              <a:gd name="adj" fmla="val 808"/>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116" name="Shape 102"/>
          <p:cNvSpPr/>
          <p:nvPr/>
        </p:nvSpPr>
        <p:spPr>
          <a:xfrm>
            <a:off x="29169360" y="7818120"/>
            <a:ext cx="13304520" cy="566928"/>
          </a:xfrm>
          <a:prstGeom prst="roundRect">
            <a:avLst>
              <a:gd name="adj" fmla="val 6452"/>
            </a:avLst>
          </a:prstGeom>
          <a:solidFill>
            <a:srgbClr val="C1272D"/>
          </a:solidFill>
          <a:ln w="12700">
            <a:solidFill>
              <a:srgbClr val="C1272D"/>
            </a:solidFill>
            <a:prstDash val="solid"/>
          </a:ln>
        </p:spPr>
        <p:txBody>
          <a:bodyPr/>
          <a:lstStyle/>
          <a:p>
            <a:endParaRPr lang="en-US" sz="2000"/>
          </a:p>
        </p:txBody>
      </p:sp>
      <p:sp>
        <p:nvSpPr>
          <p:cNvPr id="117" name="Text 103"/>
          <p:cNvSpPr/>
          <p:nvPr/>
        </p:nvSpPr>
        <p:spPr>
          <a:xfrm>
            <a:off x="29370528" y="7909560"/>
            <a:ext cx="12902184" cy="457200"/>
          </a:xfrm>
          <a:prstGeom prst="rect">
            <a:avLst/>
          </a:prstGeom>
          <a:noFill/>
          <a:ln/>
        </p:spPr>
        <p:txBody>
          <a:bodyPr wrap="square" lIns="0" tIns="0" rIns="0" bIns="0" rtlCol="0" anchor="ctr"/>
          <a:lstStyle/>
          <a:p>
            <a:pPr marL="0" indent="0">
              <a:buNone/>
            </a:pPr>
            <a:r>
              <a:rPr lang="en-US" sz="2400" b="1">
                <a:solidFill>
                  <a:srgbClr val="FFFFFF"/>
                </a:solidFill>
                <a:latin typeface="Times New Roman" pitchFamily="34" charset="0"/>
                <a:ea typeface="Times New Roman" pitchFamily="34" charset="-122"/>
                <a:cs typeface="Times New Roman" pitchFamily="34" charset="-120"/>
              </a:rPr>
              <a:t>Signal Processing &amp; Realtime Inference</a:t>
            </a:r>
            <a:endParaRPr lang="en-US" sz="2400"/>
          </a:p>
        </p:txBody>
      </p:sp>
      <p:sp>
        <p:nvSpPr>
          <p:cNvPr id="118" name="Text 104"/>
          <p:cNvSpPr/>
          <p:nvPr/>
        </p:nvSpPr>
        <p:spPr>
          <a:xfrm>
            <a:off x="29388816" y="8494776"/>
            <a:ext cx="7726680" cy="3758184"/>
          </a:xfrm>
          <a:prstGeom prst="rect">
            <a:avLst/>
          </a:prstGeom>
          <a:noFill/>
          <a:ln/>
        </p:spPr>
        <p:txBody>
          <a:bodyPr wrap="square" lIns="1016" tIns="1016" rIns="1016" bIns="1016" rtlCol="0" anchor="t">
            <a:noAutofit/>
          </a:bodyPr>
          <a:lstStyle/>
          <a:p>
            <a:pPr marL="0" indent="0">
              <a:buNone/>
            </a:pPr>
            <a:r>
              <a:rPr lang="en-US" sz="2500">
                <a:solidFill>
                  <a:srgbClr val="1E1E1E"/>
                </a:solidFill>
                <a:latin typeface="Times New Roman" pitchFamily="34" charset="0"/>
                <a:ea typeface="Times New Roman" pitchFamily="34" charset="-122"/>
                <a:cs typeface="Times New Roman" pitchFamily="34" charset="-120"/>
              </a:rPr>
              <a:t>• Raw multi-sensor EMG streams are resampled to a shared 2000 Hz time grid before training and inference.</a:t>
            </a:r>
            <a:endParaRPr lang="en-US" sz="2500"/>
          </a:p>
          <a:p>
            <a:pPr marL="0" indent="0">
              <a:buNone/>
            </a:pPr>
            <a:r>
              <a:rPr lang="en-US" sz="2500">
                <a:solidFill>
                  <a:srgbClr val="1E1E1E"/>
                </a:solidFill>
                <a:latin typeface="Times New Roman" pitchFamily="34" charset="0"/>
                <a:ea typeface="Times New Roman" pitchFamily="34" charset="-122"/>
                <a:cs typeface="Times New Roman" pitchFamily="34" charset="-120"/>
              </a:rPr>
              <a:t>• The active filter stack uses 60 / 120 Hz notch filtering and a 20-450 Hz bandpass to suppress noise while retaining muscle activity.</a:t>
            </a:r>
            <a:endParaRPr lang="en-US" sz="2500"/>
          </a:p>
          <a:p>
            <a:r>
              <a:rPr lang="en-US" sz="2500">
                <a:solidFill>
                  <a:srgbClr val="1E1E1E"/>
                </a:solidFill>
                <a:latin typeface="Times New Roman" pitchFamily="34" charset="0"/>
                <a:ea typeface="Times New Roman" pitchFamily="34" charset="-122"/>
                <a:cs typeface="Times New Roman" pitchFamily="34" charset="-120"/>
              </a:rPr>
              <a:t>• Windows are 200 samples with a 100-sample step; per-session neutral / MVC calibration stabilizes amplitude variation.</a:t>
            </a:r>
            <a:endParaRPr lang="en-US" sz="2500"/>
          </a:p>
          <a:p>
            <a:pPr marL="0" indent="0">
              <a:buNone/>
            </a:pPr>
            <a:r>
              <a:rPr lang="en-US" sz="2500">
                <a:solidFill>
                  <a:srgbClr val="1E1E1E"/>
                </a:solidFill>
                <a:latin typeface="Times New Roman" pitchFamily="34" charset="0"/>
                <a:ea typeface="Times New Roman" pitchFamily="34" charset="-122"/>
                <a:cs typeface="Times New Roman" pitchFamily="34" charset="-120"/>
              </a:rPr>
              <a:t>• The active deployment subset is the strict three-gesture steering set: neutral, left_turn, right_turn.</a:t>
            </a:r>
            <a:endParaRPr lang="en-US" sz="2500"/>
          </a:p>
        </p:txBody>
      </p:sp>
      <p:graphicFrame>
        <p:nvGraphicFramePr>
          <p:cNvPr id="119" name="Table 3"/>
          <p:cNvGraphicFramePr>
            <a:graphicFrameLocks noGrp="1"/>
          </p:cNvGraphicFramePr>
          <p:nvPr>
            <p:extLst>
              <p:ext uri="{D42A27DB-BD31-4B8C-83A1-F6EECF244321}">
                <p14:modId xmlns:p14="http://schemas.microsoft.com/office/powerpoint/2010/main" val="2839409998"/>
              </p:ext>
            </p:extLst>
          </p:nvPr>
        </p:nvGraphicFramePr>
        <p:xfrm>
          <a:off x="37344096" y="8659368"/>
          <a:ext cx="4892040" cy="3017520"/>
        </p:xfrm>
        <a:graphic>
          <a:graphicData uri="http://schemas.openxmlformats.org/drawingml/2006/table">
            <a:tbl>
              <a:tblPr/>
              <a:tblGrid>
                <a:gridCol w="219456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685800">
                <a:tc>
                  <a:txBody>
                    <a:bodyPr/>
                    <a:lstStyle/>
                    <a:p>
                      <a:pPr marL="0" indent="0">
                        <a:buNone/>
                      </a:pPr>
                      <a:r>
                        <a:rPr lang="en-US" sz="2400">
                          <a:solidFill>
                            <a:srgbClr val="000000"/>
                          </a:solidFill>
                          <a:latin typeface="Times New Roman" pitchFamily="34" charset="0"/>
                          <a:ea typeface="Times New Roman" pitchFamily="34" charset="-122"/>
                          <a:cs typeface="Times New Roman" pitchFamily="34" charset="-120"/>
                        </a:rPr>
                        <a:t>Target fs</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400">
                          <a:solidFill>
                            <a:srgbClr val="000000"/>
                          </a:solidFill>
                          <a:latin typeface="Times New Roman" pitchFamily="34" charset="0"/>
                          <a:ea typeface="Times New Roman" pitchFamily="34" charset="-122"/>
                          <a:cs typeface="Times New Roman" pitchFamily="34" charset="-120"/>
                        </a:rPr>
                        <a:t>2000 Hz</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marL="0" indent="0">
                        <a:buNone/>
                      </a:pPr>
                      <a:r>
                        <a:rPr lang="en-US" sz="2400">
                          <a:solidFill>
                            <a:srgbClr val="000000"/>
                          </a:solidFill>
                          <a:latin typeface="Times New Roman" pitchFamily="34" charset="0"/>
                          <a:ea typeface="Times New Roman" pitchFamily="34" charset="-122"/>
                          <a:cs typeface="Times New Roman" pitchFamily="34" charset="-120"/>
                        </a:rPr>
                        <a:t>Filters</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400">
                          <a:solidFill>
                            <a:srgbClr val="000000"/>
                          </a:solidFill>
                          <a:latin typeface="Times New Roman" pitchFamily="34" charset="0"/>
                          <a:ea typeface="Times New Roman" pitchFamily="34" charset="-122"/>
                          <a:cs typeface="Times New Roman" pitchFamily="34" charset="-120"/>
                        </a:rPr>
                        <a:t>60/120 notch; 20-450 bandpass</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2400">
                          <a:solidFill>
                            <a:srgbClr val="000000"/>
                          </a:solidFill>
                          <a:latin typeface="Times New Roman" pitchFamily="34" charset="0"/>
                          <a:ea typeface="Times New Roman" pitchFamily="34" charset="-122"/>
                          <a:cs typeface="Times New Roman" pitchFamily="34" charset="-120"/>
                        </a:rPr>
                        <a:t>Window / step</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400">
                          <a:solidFill>
                            <a:srgbClr val="000000"/>
                          </a:solidFill>
                          <a:latin typeface="Times New Roman" pitchFamily="34" charset="0"/>
                          <a:ea typeface="Times New Roman" pitchFamily="34" charset="-122"/>
                          <a:cs typeface="Times New Roman" pitchFamily="34" charset="-120"/>
                        </a:rPr>
                        <a:t>200 / 100</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2400">
                          <a:solidFill>
                            <a:srgbClr val="000000"/>
                          </a:solidFill>
                          <a:latin typeface="Times New Roman" pitchFamily="34" charset="0"/>
                          <a:ea typeface="Times New Roman" pitchFamily="34" charset="-122"/>
                          <a:cs typeface="Times New Roman" pitchFamily="34" charset="-120"/>
                        </a:rPr>
                        <a:t>Scenario presets</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400">
                          <a:solidFill>
                            <a:srgbClr val="000000"/>
                          </a:solidFill>
                          <a:latin typeface="Times New Roman" pitchFamily="34" charset="0"/>
                          <a:ea typeface="Times New Roman" pitchFamily="34" charset="-122"/>
                          <a:cs typeface="Times New Roman" pitchFamily="34" charset="-120"/>
                        </a:rPr>
                        <a:t>lane_keep_5min, highway_overtake</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0" name="Shape 105"/>
          <p:cNvSpPr/>
          <p:nvPr/>
        </p:nvSpPr>
        <p:spPr>
          <a:xfrm>
            <a:off x="29169360" y="12573000"/>
            <a:ext cx="13304520" cy="4892040"/>
          </a:xfrm>
          <a:prstGeom prst="roundRect">
            <a:avLst>
              <a:gd name="adj" fmla="val 748"/>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121" name="Shape 106"/>
          <p:cNvSpPr/>
          <p:nvPr/>
        </p:nvSpPr>
        <p:spPr>
          <a:xfrm>
            <a:off x="29169360" y="12573000"/>
            <a:ext cx="13304520" cy="566928"/>
          </a:xfrm>
          <a:prstGeom prst="roundRect">
            <a:avLst>
              <a:gd name="adj" fmla="val 6452"/>
            </a:avLst>
          </a:prstGeom>
          <a:solidFill>
            <a:srgbClr val="C1272D"/>
          </a:solidFill>
          <a:ln w="12700">
            <a:solidFill>
              <a:srgbClr val="C1272D"/>
            </a:solidFill>
            <a:prstDash val="solid"/>
          </a:ln>
        </p:spPr>
        <p:txBody>
          <a:bodyPr/>
          <a:lstStyle/>
          <a:p>
            <a:endParaRPr lang="en-US" sz="2000"/>
          </a:p>
        </p:txBody>
      </p:sp>
      <p:sp>
        <p:nvSpPr>
          <p:cNvPr id="122" name="Text 107"/>
          <p:cNvSpPr/>
          <p:nvPr/>
        </p:nvSpPr>
        <p:spPr>
          <a:xfrm>
            <a:off x="29370528" y="12664440"/>
            <a:ext cx="12902184" cy="457200"/>
          </a:xfrm>
          <a:prstGeom prst="rect">
            <a:avLst/>
          </a:prstGeom>
          <a:noFill/>
          <a:ln/>
        </p:spPr>
        <p:txBody>
          <a:bodyPr wrap="square" lIns="0" tIns="0" rIns="0" bIns="0" rtlCol="0" anchor="ctr"/>
          <a:lstStyle/>
          <a:p>
            <a:pPr marL="0" indent="0">
              <a:buNone/>
            </a:pPr>
            <a:r>
              <a:rPr lang="en-US" sz="2400" b="1">
                <a:solidFill>
                  <a:srgbClr val="FFFFFF"/>
                </a:solidFill>
                <a:latin typeface="Times New Roman" pitchFamily="34" charset="0"/>
                <a:ea typeface="Times New Roman" pitchFamily="34" charset="-122"/>
                <a:cs typeface="Times New Roman" pitchFamily="34" charset="-120"/>
              </a:rPr>
              <a:t>CNN Model &amp; Runtime Stabilization</a:t>
            </a:r>
            <a:endParaRPr lang="en-US" sz="2400"/>
          </a:p>
        </p:txBody>
      </p:sp>
      <p:sp>
        <p:nvSpPr>
          <p:cNvPr id="123" name="Text 108"/>
          <p:cNvSpPr/>
          <p:nvPr/>
        </p:nvSpPr>
        <p:spPr>
          <a:xfrm>
            <a:off x="29388816" y="13249656"/>
            <a:ext cx="7863840" cy="4123944"/>
          </a:xfrm>
          <a:prstGeom prst="rect">
            <a:avLst/>
          </a:prstGeom>
          <a:noFill/>
          <a:ln/>
        </p:spPr>
        <p:txBody>
          <a:bodyPr wrap="square" lIns="1016" tIns="1016" rIns="1016" bIns="1016" rtlCol="0" anchor="t">
            <a:noAutofit/>
          </a:bodyPr>
          <a:lstStyle/>
          <a:p>
            <a:pPr marL="0" indent="0">
              <a:buNone/>
            </a:pPr>
            <a:r>
              <a:rPr lang="en-US" sz="2500">
                <a:solidFill>
                  <a:srgbClr val="1E1E1E"/>
                </a:solidFill>
                <a:latin typeface="Times New Roman" pitchFamily="34" charset="0"/>
                <a:ea typeface="Times New Roman" pitchFamily="34" charset="-122"/>
                <a:cs typeface="Times New Roman" pitchFamily="34" charset="-120"/>
              </a:rPr>
              <a:t>• GestureCNNv2 uses a residual 1D CNN backbone with channel attention.</a:t>
            </a:r>
            <a:endParaRPr lang="en-US" sz="2500"/>
          </a:p>
          <a:p>
            <a:pPr marL="0" indent="0">
              <a:buNone/>
            </a:pPr>
            <a:r>
              <a:rPr lang="en-US" sz="2500">
                <a:solidFill>
                  <a:srgbClr val="1E1E1E"/>
                </a:solidFill>
                <a:latin typeface="Times New Roman" pitchFamily="34" charset="0"/>
                <a:ea typeface="Times New Roman" pitchFamily="34" charset="-122"/>
                <a:cs typeface="Times New Roman" pitchFamily="34" charset="-120"/>
              </a:rPr>
              <a:t>• A pre-normalization energy bypass preserves rest-vs-active amplitude information that would otherwise be weakened by per-window normalization.</a:t>
            </a:r>
            <a:endParaRPr lang="en-US" sz="2500"/>
          </a:p>
          <a:p>
            <a:pPr marL="0" indent="0">
              <a:buNone/>
            </a:pPr>
            <a:r>
              <a:rPr lang="en-US" sz="2500">
                <a:solidFill>
                  <a:srgbClr val="1E1E1E"/>
                </a:solidFill>
                <a:latin typeface="Times New Roman" pitchFamily="34" charset="0"/>
                <a:ea typeface="Times New Roman" pitchFamily="34" charset="-122"/>
                <a:cs typeface="Times New Roman" pitchFamily="34" charset="-120"/>
              </a:rPr>
              <a:t>• Per-subject training currently uses 60 epochs, batch size 512, learning rate 1e-4, dropout 0.25, and label smoothing 0.05.</a:t>
            </a:r>
            <a:endParaRPr lang="en-US" sz="2500"/>
          </a:p>
          <a:p>
            <a:pPr marL="0" indent="0">
              <a:buNone/>
            </a:pPr>
            <a:r>
              <a:rPr lang="en-US" sz="2500">
                <a:solidFill>
                  <a:srgbClr val="1E1E1E"/>
                </a:solidFill>
                <a:latin typeface="Times New Roman" pitchFamily="34" charset="0"/>
                <a:ea typeface="Times New Roman" pitchFamily="34" charset="-122"/>
                <a:cs typeface="Times New Roman" pitchFamily="34" charset="-120"/>
              </a:rPr>
              <a:t>• Runtime stabilization combines smoothing, minimum-confidence gating, hysteresis, and ambiguity rejection to reduce neutral flicker.</a:t>
            </a:r>
            <a:endParaRPr lang="en-US" sz="2500"/>
          </a:p>
        </p:txBody>
      </p:sp>
      <p:graphicFrame>
        <p:nvGraphicFramePr>
          <p:cNvPr id="124" name="Table 4"/>
          <p:cNvGraphicFramePr>
            <a:graphicFrameLocks noGrp="1"/>
          </p:cNvGraphicFramePr>
          <p:nvPr>
            <p:extLst>
              <p:ext uri="{D42A27DB-BD31-4B8C-83A1-F6EECF244321}">
                <p14:modId xmlns:p14="http://schemas.microsoft.com/office/powerpoint/2010/main" val="3448572057"/>
              </p:ext>
            </p:extLst>
          </p:nvPr>
        </p:nvGraphicFramePr>
        <p:xfrm>
          <a:off x="37481256" y="13359384"/>
          <a:ext cx="4709160" cy="3346704"/>
        </p:xfrm>
        <a:graphic>
          <a:graphicData uri="http://schemas.openxmlformats.org/drawingml/2006/table">
            <a:tbl>
              <a:tblPr/>
              <a:tblGrid>
                <a:gridCol w="26517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630936">
                <a:tc>
                  <a:txBody>
                    <a:bodyPr/>
                    <a:lstStyle/>
                    <a:p>
                      <a:pPr marL="0" indent="0" algn="ctr">
                        <a:buNone/>
                      </a:pPr>
                      <a:r>
                        <a:rPr lang="en-US" sz="2400" b="1">
                          <a:solidFill>
                            <a:srgbClr val="000000"/>
                          </a:solidFill>
                          <a:latin typeface="Times New Roman" pitchFamily="34" charset="0"/>
                          <a:ea typeface="Times New Roman" pitchFamily="34" charset="-122"/>
                          <a:cs typeface="Times New Roman" pitchFamily="34" charset="-120"/>
                        </a:rPr>
                        <a:t>Runtime preset</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ctr">
                        <a:buNone/>
                      </a:pPr>
                      <a:r>
                        <a:rPr lang="en-US" sz="2400" b="1">
                          <a:solidFill>
                            <a:srgbClr val="000000"/>
                          </a:solidFill>
                          <a:latin typeface="Times New Roman" pitchFamily="34" charset="0"/>
                          <a:ea typeface="Times New Roman" pitchFamily="34" charset="-122"/>
                          <a:cs typeface="Times New Roman" pitchFamily="34" charset="-120"/>
                        </a:rPr>
                        <a:t>Value</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30936">
                <a:tc>
                  <a:txBody>
                    <a:bodyPr/>
                    <a:lstStyle/>
                    <a:p>
                      <a:pPr marL="0" indent="0" algn="ctr">
                        <a:buNone/>
                      </a:pPr>
                      <a:r>
                        <a:rPr lang="en-US" sz="2400">
                          <a:solidFill>
                            <a:srgbClr val="000000"/>
                          </a:solidFill>
                          <a:latin typeface="Times New Roman" pitchFamily="34" charset="0"/>
                          <a:ea typeface="Times New Roman" pitchFamily="34" charset="-122"/>
                          <a:cs typeface="Times New Roman" pitchFamily="34" charset="-120"/>
                        </a:rPr>
                        <a:t>Smoothing</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ctr">
                        <a:buNone/>
                      </a:pPr>
                      <a:r>
                        <a:rPr lang="en-US" sz="2400">
                          <a:solidFill>
                            <a:srgbClr val="000000"/>
                          </a:solidFill>
                          <a:latin typeface="Times New Roman" pitchFamily="34" charset="0"/>
                          <a:ea typeface="Times New Roman" pitchFamily="34" charset="-122"/>
                          <a:cs typeface="Times New Roman" pitchFamily="34" charset="-120"/>
                        </a:rPr>
                        <a:t>3 frames</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0936">
                <a:tc>
                  <a:txBody>
                    <a:bodyPr/>
                    <a:lstStyle/>
                    <a:p>
                      <a:pPr marL="0" indent="0" algn="ctr">
                        <a:buNone/>
                      </a:pPr>
                      <a:r>
                        <a:rPr lang="en-US" sz="2400">
                          <a:solidFill>
                            <a:srgbClr val="000000"/>
                          </a:solidFill>
                          <a:latin typeface="Times New Roman" pitchFamily="34" charset="0"/>
                          <a:ea typeface="Times New Roman" pitchFamily="34" charset="-122"/>
                          <a:cs typeface="Times New Roman" pitchFamily="34" charset="-120"/>
                        </a:rPr>
                        <a:t>Minimum confidence</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ctr">
                        <a:buNone/>
                      </a:pPr>
                      <a:r>
                        <a:rPr lang="en-US" sz="2400">
                          <a:solidFill>
                            <a:srgbClr val="000000"/>
                          </a:solidFill>
                          <a:latin typeface="Times New Roman" pitchFamily="34" charset="0"/>
                          <a:ea typeface="Times New Roman" pitchFamily="34" charset="-122"/>
                          <a:cs typeface="Times New Roman" pitchFamily="34" charset="-120"/>
                        </a:rPr>
                        <a:t>0.80</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0936">
                <a:tc>
                  <a:txBody>
                    <a:bodyPr/>
                    <a:lstStyle/>
                    <a:p>
                      <a:pPr marL="0" indent="0" algn="ctr">
                        <a:buNone/>
                      </a:pPr>
                      <a:r>
                        <a:rPr lang="en-US" sz="2400">
                          <a:solidFill>
                            <a:srgbClr val="000000"/>
                          </a:solidFill>
                          <a:latin typeface="Times New Roman" pitchFamily="34" charset="0"/>
                          <a:ea typeface="Times New Roman" pitchFamily="34" charset="-122"/>
                          <a:cs typeface="Times New Roman" pitchFamily="34" charset="-120"/>
                        </a:rPr>
                        <a:t>Dual-arm agreement</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ctr">
                        <a:buNone/>
                      </a:pPr>
                      <a:r>
                        <a:rPr lang="en-US" sz="2400">
                          <a:solidFill>
                            <a:srgbClr val="000000"/>
                          </a:solidFill>
                          <a:latin typeface="Times New Roman" pitchFamily="34" charset="0"/>
                          <a:ea typeface="Times New Roman" pitchFamily="34" charset="-122"/>
                          <a:cs typeface="Times New Roman" pitchFamily="34" charset="-120"/>
                        </a:rPr>
                        <a:t>0.55</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0936">
                <a:tc>
                  <a:txBody>
                    <a:bodyPr/>
                    <a:lstStyle/>
                    <a:p>
                      <a:pPr marL="0" indent="0" algn="ctr">
                        <a:buNone/>
                      </a:pPr>
                      <a:r>
                        <a:rPr lang="en-US" sz="2400">
                          <a:solidFill>
                            <a:srgbClr val="000000"/>
                          </a:solidFill>
                          <a:latin typeface="Times New Roman" pitchFamily="34" charset="0"/>
                          <a:ea typeface="Times New Roman" pitchFamily="34" charset="-122"/>
                          <a:cs typeface="Times New Roman" pitchFamily="34" charset="-120"/>
                        </a:rPr>
                        <a:t>Ambiguity rejection</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lgn="ctr">
                        <a:buNone/>
                      </a:pPr>
                      <a:r>
                        <a:rPr lang="en-US" sz="2400">
                          <a:solidFill>
                            <a:srgbClr val="000000"/>
                          </a:solidFill>
                          <a:latin typeface="Times New Roman" pitchFamily="34" charset="0"/>
                          <a:ea typeface="Times New Roman" pitchFamily="34" charset="-122"/>
                          <a:cs typeface="Times New Roman" pitchFamily="34" charset="-120"/>
                        </a:rPr>
                        <a:t>margin &gt;= 0.10</a:t>
                      </a:r>
                      <a:endParaRPr lang="en-US" sz="24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5" name="Text 109"/>
          <p:cNvSpPr/>
          <p:nvPr/>
        </p:nvSpPr>
        <p:spPr>
          <a:xfrm>
            <a:off x="37526976" y="16751227"/>
            <a:ext cx="4617720" cy="502920"/>
          </a:xfrm>
          <a:prstGeom prst="rect">
            <a:avLst/>
          </a:prstGeom>
          <a:noFill/>
          <a:ln/>
        </p:spPr>
        <p:txBody>
          <a:bodyPr wrap="square" lIns="0" tIns="0" rIns="0" bIns="0" rtlCol="0" anchor="t"/>
          <a:lstStyle/>
          <a:p>
            <a:pPr marL="0" indent="0" algn="ctr">
              <a:buNone/>
            </a:pPr>
            <a:r>
              <a:rPr lang="en-US" sz="2000" i="1">
                <a:solidFill>
                  <a:srgbClr val="666666"/>
                </a:solidFill>
                <a:latin typeface="Times New Roman" pitchFamily="34" charset="0"/>
                <a:ea typeface="Times New Roman" pitchFamily="34" charset="-122"/>
                <a:cs typeface="Times New Roman" pitchFamily="34" charset="-120"/>
              </a:rPr>
              <a:t>The deployed tuning preset in the current branch is flicker_mild_margin.</a:t>
            </a:r>
            <a:endParaRPr lang="en-US" sz="2000"/>
          </a:p>
        </p:txBody>
      </p:sp>
      <p:sp>
        <p:nvSpPr>
          <p:cNvPr id="126" name="Shape 110"/>
          <p:cNvSpPr/>
          <p:nvPr/>
        </p:nvSpPr>
        <p:spPr>
          <a:xfrm>
            <a:off x="29169360" y="17693639"/>
            <a:ext cx="13304520" cy="4295503"/>
          </a:xfrm>
          <a:prstGeom prst="roundRect">
            <a:avLst>
              <a:gd name="adj" fmla="val 879"/>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127" name="Shape 111"/>
          <p:cNvSpPr/>
          <p:nvPr/>
        </p:nvSpPr>
        <p:spPr>
          <a:xfrm>
            <a:off x="29169360" y="17693640"/>
            <a:ext cx="13304520" cy="566928"/>
          </a:xfrm>
          <a:prstGeom prst="roundRect">
            <a:avLst>
              <a:gd name="adj" fmla="val 6452"/>
            </a:avLst>
          </a:prstGeom>
          <a:solidFill>
            <a:srgbClr val="C1272D"/>
          </a:solidFill>
          <a:ln w="12700">
            <a:solidFill>
              <a:srgbClr val="C1272D"/>
            </a:solidFill>
            <a:prstDash val="solid"/>
          </a:ln>
        </p:spPr>
        <p:txBody>
          <a:bodyPr/>
          <a:lstStyle/>
          <a:p>
            <a:endParaRPr lang="en-US" sz="2000"/>
          </a:p>
        </p:txBody>
      </p:sp>
      <p:sp>
        <p:nvSpPr>
          <p:cNvPr id="128" name="Text 112"/>
          <p:cNvSpPr/>
          <p:nvPr/>
        </p:nvSpPr>
        <p:spPr>
          <a:xfrm>
            <a:off x="29370528" y="17785080"/>
            <a:ext cx="12902184" cy="457200"/>
          </a:xfrm>
          <a:prstGeom prst="rect">
            <a:avLst/>
          </a:prstGeom>
          <a:noFill/>
          <a:ln/>
        </p:spPr>
        <p:txBody>
          <a:bodyPr wrap="square" lIns="0" tIns="0" rIns="0" bIns="0" rtlCol="0" anchor="ctr"/>
          <a:lstStyle/>
          <a:p>
            <a:pPr marL="0" indent="0">
              <a:buNone/>
            </a:pPr>
            <a:r>
              <a:rPr lang="en-US" sz="2400" b="1">
                <a:solidFill>
                  <a:srgbClr val="FFFFFF"/>
                </a:solidFill>
                <a:latin typeface="Times New Roman" pitchFamily="34" charset="0"/>
                <a:ea typeface="Times New Roman" pitchFamily="34" charset="-122"/>
                <a:cs typeface="Times New Roman" pitchFamily="34" charset="-120"/>
              </a:rPr>
              <a:t>Challenges &amp; Mitigations</a:t>
            </a:r>
            <a:endParaRPr lang="en-US" sz="2400"/>
          </a:p>
        </p:txBody>
      </p:sp>
      <p:graphicFrame>
        <p:nvGraphicFramePr>
          <p:cNvPr id="129" name="Table 5"/>
          <p:cNvGraphicFramePr>
            <a:graphicFrameLocks noGrp="1"/>
          </p:cNvGraphicFramePr>
          <p:nvPr>
            <p:extLst>
              <p:ext uri="{D42A27DB-BD31-4B8C-83A1-F6EECF244321}">
                <p14:modId xmlns:p14="http://schemas.microsoft.com/office/powerpoint/2010/main" val="1685713710"/>
              </p:ext>
            </p:extLst>
          </p:nvPr>
        </p:nvGraphicFramePr>
        <p:xfrm>
          <a:off x="29420404" y="18433956"/>
          <a:ext cx="12903015" cy="3438492"/>
        </p:xfrm>
        <a:graphic>
          <a:graphicData uri="http://schemas.openxmlformats.org/drawingml/2006/table">
            <a:tbl>
              <a:tblPr/>
              <a:tblGrid>
                <a:gridCol w="4072228">
                  <a:extLst>
                    <a:ext uri="{9D8B030D-6E8A-4147-A177-3AD203B41FA5}">
                      <a16:colId xmlns:a16="http://schemas.microsoft.com/office/drawing/2014/main" val="20000"/>
                    </a:ext>
                  </a:extLst>
                </a:gridCol>
                <a:gridCol w="8830787">
                  <a:extLst>
                    <a:ext uri="{9D8B030D-6E8A-4147-A177-3AD203B41FA5}">
                      <a16:colId xmlns:a16="http://schemas.microsoft.com/office/drawing/2014/main" val="20001"/>
                    </a:ext>
                  </a:extLst>
                </a:gridCol>
              </a:tblGrid>
              <a:tr h="556884">
                <a:tc>
                  <a:txBody>
                    <a:bodyPr/>
                    <a:lstStyle/>
                    <a:p>
                      <a:pPr marL="0" indent="0">
                        <a:buNone/>
                      </a:pPr>
                      <a:r>
                        <a:rPr lang="en-US" sz="2600" b="1">
                          <a:solidFill>
                            <a:srgbClr val="000000"/>
                          </a:solidFill>
                          <a:latin typeface="Times New Roman" pitchFamily="34" charset="0"/>
                          <a:ea typeface="Times New Roman" pitchFamily="34" charset="-122"/>
                          <a:cs typeface="Times New Roman" pitchFamily="34" charset="-120"/>
                        </a:rPr>
                        <a:t>Challenge</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600" b="1">
                          <a:solidFill>
                            <a:srgbClr val="000000"/>
                          </a:solidFill>
                          <a:latin typeface="Times New Roman" pitchFamily="34" charset="0"/>
                          <a:ea typeface="Times New Roman" pitchFamily="34" charset="-122"/>
                          <a:cs typeface="Times New Roman" pitchFamily="34" charset="-120"/>
                        </a:rPr>
                        <a:t>Mitigation</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7902">
                <a:tc>
                  <a:txBody>
                    <a:bodyPr/>
                    <a:lstStyle/>
                    <a:p>
                      <a:pPr marL="0" indent="0">
                        <a:buNone/>
                      </a:pPr>
                      <a:r>
                        <a:rPr lang="en-US" sz="2600">
                          <a:solidFill>
                            <a:srgbClr val="000000"/>
                          </a:solidFill>
                          <a:latin typeface="Times New Roman" pitchFamily="34" charset="0"/>
                          <a:ea typeface="Times New Roman" pitchFamily="34" charset="-122"/>
                          <a:cs typeface="Times New Roman" pitchFamily="34" charset="-120"/>
                        </a:rPr>
                        <a:t>Neutral flicker after gesture release</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600">
                          <a:solidFill>
                            <a:srgbClr val="000000"/>
                          </a:solidFill>
                          <a:latin typeface="Times New Roman" pitchFamily="34" charset="0"/>
                          <a:ea typeface="Times New Roman" pitchFamily="34" charset="-122"/>
                          <a:cs typeface="Times New Roman" pitchFamily="34" charset="-120"/>
                        </a:rPr>
                        <a:t>Neutral-recovery data, confidence gating, hysteresis</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7902">
                <a:tc>
                  <a:txBody>
                    <a:bodyPr/>
                    <a:lstStyle/>
                    <a:p>
                      <a:pPr marL="0" indent="0">
                        <a:buNone/>
                      </a:pPr>
                      <a:r>
                        <a:rPr lang="en-US" sz="2600">
                          <a:solidFill>
                            <a:srgbClr val="000000"/>
                          </a:solidFill>
                          <a:latin typeface="Times New Roman" pitchFamily="34" charset="0"/>
                          <a:ea typeface="Times New Roman" pitchFamily="34" charset="-122"/>
                          <a:cs typeface="Times New Roman" pitchFamily="34" charset="-120"/>
                        </a:rPr>
                        <a:t>Session drift / placement variability</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600">
                          <a:solidFill>
                            <a:srgbClr val="000000"/>
                          </a:solidFill>
                          <a:latin typeface="Times New Roman" pitchFamily="34" charset="0"/>
                          <a:ea typeface="Times New Roman" pitchFamily="34" charset="-122"/>
                          <a:cs typeface="Times New Roman" pitchFamily="34" charset="-120"/>
                        </a:rPr>
                        <a:t>Strict pair mapping, calibration, placement checklist</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6884">
                <a:tc>
                  <a:txBody>
                    <a:bodyPr/>
                    <a:lstStyle/>
                    <a:p>
                      <a:pPr marL="0" indent="0">
                        <a:buNone/>
                      </a:pPr>
                      <a:r>
                        <a:rPr lang="en-US" sz="2600">
                          <a:solidFill>
                            <a:srgbClr val="000000"/>
                          </a:solidFill>
                          <a:latin typeface="Times New Roman" pitchFamily="34" charset="0"/>
                          <a:ea typeface="Times New Roman" pitchFamily="34" charset="-122"/>
                          <a:cs typeface="Times New Roman" pitchFamily="34" charset="-120"/>
                        </a:rPr>
                        <a:t>signal_right confusion</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600">
                          <a:solidFill>
                            <a:srgbClr val="000000"/>
                          </a:solidFill>
                          <a:latin typeface="Times New Roman" pitchFamily="34" charset="0"/>
                          <a:ea typeface="Times New Roman" pitchFamily="34" charset="-122"/>
                          <a:cs typeface="Times New Roman" pitchFamily="34" charset="-120"/>
                        </a:rPr>
                        <a:t>Targeted data collection, class balancing, confusion-driven tuning</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6884">
                <a:tc>
                  <a:txBody>
                    <a:bodyPr/>
                    <a:lstStyle/>
                    <a:p>
                      <a:pPr marL="0" indent="0">
                        <a:buNone/>
                      </a:pPr>
                      <a:r>
                        <a:rPr lang="en-US" sz="2600">
                          <a:solidFill>
                            <a:srgbClr val="000000"/>
                          </a:solidFill>
                          <a:latin typeface="Times New Roman" pitchFamily="34" charset="0"/>
                          <a:ea typeface="Times New Roman" pitchFamily="34" charset="-122"/>
                          <a:cs typeface="Times New Roman" pitchFamily="34" charset="-120"/>
                        </a:rPr>
                        <a:t>Integration latency / jitter</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tc>
                  <a:txBody>
                    <a:bodyPr/>
                    <a:lstStyle/>
                    <a:p>
                      <a:pPr marL="0" indent="0">
                        <a:buNone/>
                      </a:pPr>
                      <a:r>
                        <a:rPr lang="en-US" sz="2600">
                          <a:solidFill>
                            <a:srgbClr val="000000"/>
                          </a:solidFill>
                          <a:latin typeface="Times New Roman" pitchFamily="34" charset="0"/>
                          <a:ea typeface="Times New Roman" pitchFamily="34" charset="-122"/>
                          <a:cs typeface="Times New Roman" pitchFamily="34" charset="-120"/>
                        </a:rPr>
                        <a:t>Realtime logging in inference loop and CARLA client</a:t>
                      </a:r>
                      <a:endParaRPr lang="en-US" sz="2600">
                        <a:latin typeface="Times New Roman" charset="0"/>
                        <a:ea typeface="Times New Roman" charset="0"/>
                        <a:cs typeface="Times New Roman" charset="0"/>
                      </a:endParaRPr>
                    </a:p>
                  </a:txBody>
                  <a:tcPr marL="45720" marR="45720">
                    <a:lnL w="12700" cap="flat" cmpd="sng" algn="ctr">
                      <a:solidFill>
                        <a:srgbClr val="D7D7D7"/>
                      </a:solidFill>
                      <a:prstDash val="solid"/>
                      <a:round/>
                      <a:headEnd type="none" w="med" len="med"/>
                      <a:tailEnd type="none" w="med" len="med"/>
                    </a:lnL>
                    <a:lnR w="12700" cap="flat" cmpd="sng" algn="ctr">
                      <a:solidFill>
                        <a:srgbClr val="D7D7D7"/>
                      </a:solidFill>
                      <a:prstDash val="solid"/>
                      <a:round/>
                      <a:headEnd type="none" w="med" len="med"/>
                      <a:tailEnd type="none" w="med" len="med"/>
                    </a:lnR>
                    <a:lnT w="12700" cap="flat" cmpd="sng" algn="ctr">
                      <a:solidFill>
                        <a:srgbClr val="D7D7D7"/>
                      </a:solidFill>
                      <a:prstDash val="solid"/>
                      <a:round/>
                      <a:headEnd type="none" w="med" len="med"/>
                      <a:tailEnd type="none" w="med" len="med"/>
                    </a:lnT>
                    <a:lnB w="12700" cap="flat" cmpd="sng" algn="ctr">
                      <a:solidFill>
                        <a:srgbClr val="D7D7D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30" name="Shape 113"/>
          <p:cNvSpPr/>
          <p:nvPr/>
        </p:nvSpPr>
        <p:spPr>
          <a:xfrm>
            <a:off x="29169360" y="22082760"/>
            <a:ext cx="13304520" cy="3989746"/>
          </a:xfrm>
          <a:prstGeom prst="roundRect">
            <a:avLst>
              <a:gd name="adj" fmla="val 941"/>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131" name="Shape 114"/>
          <p:cNvSpPr/>
          <p:nvPr/>
        </p:nvSpPr>
        <p:spPr>
          <a:xfrm>
            <a:off x="29169360" y="22082760"/>
            <a:ext cx="13304520" cy="566928"/>
          </a:xfrm>
          <a:prstGeom prst="roundRect">
            <a:avLst>
              <a:gd name="adj" fmla="val 6452"/>
            </a:avLst>
          </a:prstGeom>
          <a:solidFill>
            <a:srgbClr val="C1272D"/>
          </a:solidFill>
          <a:ln w="12700">
            <a:solidFill>
              <a:srgbClr val="C1272D"/>
            </a:solidFill>
            <a:prstDash val="solid"/>
          </a:ln>
        </p:spPr>
        <p:txBody>
          <a:bodyPr/>
          <a:lstStyle/>
          <a:p>
            <a:endParaRPr lang="en-US"/>
          </a:p>
        </p:txBody>
      </p:sp>
      <p:sp>
        <p:nvSpPr>
          <p:cNvPr id="132" name="Text 115"/>
          <p:cNvSpPr/>
          <p:nvPr/>
        </p:nvSpPr>
        <p:spPr>
          <a:xfrm>
            <a:off x="29370528" y="22174200"/>
            <a:ext cx="12902184" cy="457200"/>
          </a:xfrm>
          <a:prstGeom prst="rect">
            <a:avLst/>
          </a:prstGeom>
          <a:noFill/>
          <a:ln/>
        </p:spPr>
        <p:txBody>
          <a:bodyPr wrap="square" lIns="0" tIns="0" rIns="0" bIns="0" rtlCol="0" anchor="ctr"/>
          <a:lstStyle/>
          <a:p>
            <a:pPr marL="0" indent="0">
              <a:buNone/>
            </a:pPr>
            <a:r>
              <a:rPr lang="en-US" sz="2400" b="1">
                <a:solidFill>
                  <a:srgbClr val="FFFFFF"/>
                </a:solidFill>
                <a:latin typeface="Times New Roman" pitchFamily="34" charset="0"/>
                <a:ea typeface="Times New Roman" pitchFamily="34" charset="-122"/>
                <a:cs typeface="Times New Roman" pitchFamily="34" charset="-120"/>
              </a:rPr>
              <a:t>Next Steps to Final Capstone Demonstration and Beyond</a:t>
            </a:r>
            <a:endParaRPr lang="en-US" sz="2400"/>
          </a:p>
        </p:txBody>
      </p:sp>
      <p:sp>
        <p:nvSpPr>
          <p:cNvPr id="133" name="Text 116"/>
          <p:cNvSpPr/>
          <p:nvPr/>
        </p:nvSpPr>
        <p:spPr>
          <a:xfrm>
            <a:off x="29388816" y="22759416"/>
            <a:ext cx="12865608" cy="3118104"/>
          </a:xfrm>
          <a:prstGeom prst="rect">
            <a:avLst/>
          </a:prstGeom>
          <a:noFill/>
          <a:ln/>
        </p:spPr>
        <p:txBody>
          <a:bodyPr wrap="square" lIns="1016" tIns="1016" rIns="1016" bIns="1016" rtlCol="0" anchor="t">
            <a:noAutofit/>
          </a:bodyPr>
          <a:lstStyle/>
          <a:p>
            <a:pPr marL="0" indent="0">
              <a:buNone/>
            </a:pPr>
            <a:r>
              <a:rPr lang="en-US" sz="3100">
                <a:solidFill>
                  <a:srgbClr val="1E1E1E"/>
                </a:solidFill>
                <a:latin typeface="Times New Roman" pitchFamily="34" charset="0"/>
                <a:ea typeface="Times New Roman" pitchFamily="34" charset="-122"/>
                <a:cs typeface="Times New Roman" pitchFamily="34" charset="-120"/>
              </a:rPr>
              <a:t>• Complete the replicated strict CNN workflow for the second arm and finalize fused control behaviour.</a:t>
            </a:r>
            <a:endParaRPr lang="en-US" sz="3100"/>
          </a:p>
          <a:p>
            <a:pPr marL="0" indent="0">
              <a:buNone/>
            </a:pPr>
            <a:r>
              <a:rPr lang="en-US" sz="3100">
                <a:solidFill>
                  <a:srgbClr val="1E1E1E"/>
                </a:solidFill>
                <a:latin typeface="Times New Roman" pitchFamily="34" charset="0"/>
                <a:ea typeface="Times New Roman" pitchFamily="34" charset="-122"/>
                <a:cs typeface="Times New Roman" pitchFamily="34" charset="-120"/>
              </a:rPr>
              <a:t>• Run closed-loop CARLA validation with logged lane error, RMSE, invasions, success / failure, and completion time.</a:t>
            </a:r>
            <a:endParaRPr lang="en-US" sz="3100"/>
          </a:p>
          <a:p>
            <a:pPr marL="0" indent="0">
              <a:buNone/>
            </a:pPr>
            <a:r>
              <a:rPr lang="en-US" sz="3100">
                <a:solidFill>
                  <a:srgbClr val="1E1E1E"/>
                </a:solidFill>
                <a:latin typeface="Times New Roman" pitchFamily="34" charset="0"/>
                <a:ea typeface="Times New Roman" pitchFamily="34" charset="-122"/>
                <a:cs typeface="Times New Roman" pitchFamily="34" charset="-120"/>
              </a:rPr>
              <a:t>• Expand participant data across multiple sessions to improve generalization.</a:t>
            </a:r>
            <a:endParaRPr lang="en-US" sz="3100"/>
          </a:p>
          <a:p>
            <a:pPr marL="0" indent="0">
              <a:buNone/>
            </a:pPr>
            <a:r>
              <a:rPr lang="en-US" sz="3100">
                <a:solidFill>
                  <a:srgbClr val="1E1E1E"/>
                </a:solidFill>
                <a:latin typeface="Times New Roman" pitchFamily="34" charset="0"/>
                <a:ea typeface="Times New Roman" pitchFamily="34" charset="-122"/>
                <a:cs typeface="Times New Roman" pitchFamily="34" charset="-120"/>
              </a:rPr>
              <a:t>• Finalize report figures, poster evidence, and a publication-ready manuscript draft.</a:t>
            </a:r>
            <a:endParaRPr lang="en-US" sz="3100"/>
          </a:p>
        </p:txBody>
      </p:sp>
      <p:sp>
        <p:nvSpPr>
          <p:cNvPr id="134" name="Text 117"/>
          <p:cNvSpPr/>
          <p:nvPr/>
        </p:nvSpPr>
        <p:spPr>
          <a:xfrm>
            <a:off x="914400" y="26316432"/>
            <a:ext cx="18288000" cy="411480"/>
          </a:xfrm>
          <a:prstGeom prst="rect">
            <a:avLst/>
          </a:prstGeom>
          <a:noFill/>
          <a:ln/>
        </p:spPr>
        <p:txBody>
          <a:bodyPr wrap="square" lIns="0" tIns="0" rIns="0" bIns="0" rtlCol="0" anchor="t"/>
          <a:lstStyle/>
          <a:p>
            <a:pPr marL="0" indent="0">
              <a:buNone/>
            </a:pPr>
            <a:r>
              <a:rPr lang="en-US" sz="2800" b="1">
                <a:solidFill>
                  <a:srgbClr val="9E1C21"/>
                </a:solidFill>
                <a:latin typeface="Times New Roman" pitchFamily="34" charset="0"/>
                <a:ea typeface="Times New Roman" pitchFamily="34" charset="-122"/>
                <a:cs typeface="Times New Roman" pitchFamily="34" charset="-120"/>
              </a:rPr>
              <a:t>Results &amp; Implementation Status</a:t>
            </a:r>
            <a:endParaRPr lang="en-US" sz="2800"/>
          </a:p>
        </p:txBody>
      </p:sp>
      <p:sp>
        <p:nvSpPr>
          <p:cNvPr id="135" name="Shape 118"/>
          <p:cNvSpPr/>
          <p:nvPr/>
        </p:nvSpPr>
        <p:spPr>
          <a:xfrm>
            <a:off x="914400" y="26700480"/>
            <a:ext cx="42062400" cy="0"/>
          </a:xfrm>
          <a:prstGeom prst="line">
            <a:avLst/>
          </a:prstGeom>
          <a:noFill/>
          <a:ln w="12700">
            <a:solidFill>
              <a:srgbClr val="F5A623"/>
            </a:solidFill>
            <a:prstDash val="solid"/>
          </a:ln>
        </p:spPr>
        <p:txBody>
          <a:bodyPr/>
          <a:lstStyle/>
          <a:p>
            <a:endParaRPr lang="en-US"/>
          </a:p>
        </p:txBody>
      </p:sp>
      <p:sp>
        <p:nvSpPr>
          <p:cNvPr id="136" name="Shape 119"/>
          <p:cNvSpPr/>
          <p:nvPr/>
        </p:nvSpPr>
        <p:spPr>
          <a:xfrm>
            <a:off x="914400" y="27047953"/>
            <a:ext cx="9966960" cy="4297680"/>
          </a:xfrm>
          <a:prstGeom prst="roundRect">
            <a:avLst>
              <a:gd name="adj" fmla="val 851"/>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pPr algn="ctr"/>
            <a:endParaRPr lang="en-US"/>
          </a:p>
        </p:txBody>
      </p:sp>
      <p:sp>
        <p:nvSpPr>
          <p:cNvPr id="137" name="Shape 120"/>
          <p:cNvSpPr/>
          <p:nvPr/>
        </p:nvSpPr>
        <p:spPr>
          <a:xfrm>
            <a:off x="914400" y="26929080"/>
            <a:ext cx="9966960" cy="502920"/>
          </a:xfrm>
          <a:prstGeom prst="roundRect">
            <a:avLst>
              <a:gd name="adj" fmla="val 7273"/>
            </a:avLst>
          </a:prstGeom>
          <a:solidFill>
            <a:srgbClr val="C1272D"/>
          </a:solidFill>
          <a:ln w="12700">
            <a:solidFill>
              <a:srgbClr val="C1272D"/>
            </a:solidFill>
            <a:prstDash val="solid"/>
          </a:ln>
        </p:spPr>
        <p:txBody>
          <a:bodyPr/>
          <a:lstStyle/>
          <a:p>
            <a:endParaRPr lang="en-US" sz="2000"/>
          </a:p>
        </p:txBody>
      </p:sp>
      <p:sp>
        <p:nvSpPr>
          <p:cNvPr id="138" name="Text 121"/>
          <p:cNvSpPr/>
          <p:nvPr/>
        </p:nvSpPr>
        <p:spPr>
          <a:xfrm>
            <a:off x="1115568" y="27020520"/>
            <a:ext cx="9564624" cy="393192"/>
          </a:xfrm>
          <a:prstGeom prst="rect">
            <a:avLst/>
          </a:prstGeom>
          <a:noFill/>
          <a:ln/>
        </p:spPr>
        <p:txBody>
          <a:bodyPr wrap="square" lIns="0" tIns="0" rIns="0" bIns="0" rtlCol="0" anchor="ctr"/>
          <a:lstStyle/>
          <a:p>
            <a:pPr marL="0" indent="0">
              <a:buNone/>
            </a:pPr>
            <a:r>
              <a:rPr lang="en-US" sz="2800" b="1">
                <a:solidFill>
                  <a:srgbClr val="FFFFFF"/>
                </a:solidFill>
                <a:latin typeface="Times New Roman" pitchFamily="34" charset="0"/>
                <a:ea typeface="Times New Roman" pitchFamily="34" charset="-122"/>
                <a:cs typeface="Times New Roman" pitchFamily="34" charset="-120"/>
              </a:rPr>
              <a:t>Accuracy Improvement</a:t>
            </a:r>
            <a:endParaRPr lang="en-US" sz="2800"/>
          </a:p>
        </p:txBody>
      </p:sp>
      <p:sp>
        <p:nvSpPr>
          <p:cNvPr id="139" name="Shape 122"/>
          <p:cNvSpPr/>
          <p:nvPr/>
        </p:nvSpPr>
        <p:spPr>
          <a:xfrm>
            <a:off x="11292840" y="26929080"/>
            <a:ext cx="9966960" cy="4297680"/>
          </a:xfrm>
          <a:prstGeom prst="roundRect">
            <a:avLst>
              <a:gd name="adj" fmla="val 851"/>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140" name="Shape 123"/>
          <p:cNvSpPr/>
          <p:nvPr/>
        </p:nvSpPr>
        <p:spPr>
          <a:xfrm>
            <a:off x="11292840" y="26929080"/>
            <a:ext cx="9966960" cy="502920"/>
          </a:xfrm>
          <a:prstGeom prst="roundRect">
            <a:avLst>
              <a:gd name="adj" fmla="val 7273"/>
            </a:avLst>
          </a:prstGeom>
          <a:solidFill>
            <a:srgbClr val="C1272D"/>
          </a:solidFill>
          <a:ln w="12700">
            <a:solidFill>
              <a:srgbClr val="C1272D"/>
            </a:solidFill>
            <a:prstDash val="solid"/>
          </a:ln>
        </p:spPr>
        <p:txBody>
          <a:bodyPr/>
          <a:lstStyle/>
          <a:p>
            <a:endParaRPr lang="en-US"/>
          </a:p>
        </p:txBody>
      </p:sp>
      <p:sp>
        <p:nvSpPr>
          <p:cNvPr id="141" name="Text 124"/>
          <p:cNvSpPr/>
          <p:nvPr/>
        </p:nvSpPr>
        <p:spPr>
          <a:xfrm>
            <a:off x="11494008" y="27020520"/>
            <a:ext cx="9564624" cy="393192"/>
          </a:xfrm>
          <a:prstGeom prst="rect">
            <a:avLst/>
          </a:prstGeom>
          <a:noFill/>
          <a:ln/>
        </p:spPr>
        <p:txBody>
          <a:bodyPr wrap="square" lIns="0" tIns="0" rIns="0" bIns="0" rtlCol="0" anchor="ctr"/>
          <a:lstStyle/>
          <a:p>
            <a:pPr marL="0" indent="0">
              <a:buNone/>
            </a:pPr>
            <a:r>
              <a:rPr lang="en-US" sz="2400" b="1">
                <a:solidFill>
                  <a:srgbClr val="FFFFFF"/>
                </a:solidFill>
                <a:latin typeface="Times New Roman" pitchFamily="34" charset="0"/>
                <a:ea typeface="Times New Roman" pitchFamily="34" charset="-122"/>
                <a:cs typeface="Times New Roman" pitchFamily="34" charset="-120"/>
              </a:rPr>
              <a:t>Per-Class Performance</a:t>
            </a:r>
            <a:endParaRPr lang="en-US" sz="2400"/>
          </a:p>
        </p:txBody>
      </p:sp>
      <p:sp>
        <p:nvSpPr>
          <p:cNvPr id="142" name="Shape 125"/>
          <p:cNvSpPr/>
          <p:nvPr/>
        </p:nvSpPr>
        <p:spPr>
          <a:xfrm>
            <a:off x="21671280" y="26929080"/>
            <a:ext cx="9966960" cy="4297680"/>
          </a:xfrm>
          <a:prstGeom prst="roundRect">
            <a:avLst>
              <a:gd name="adj" fmla="val 851"/>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a:p>
        </p:txBody>
      </p:sp>
      <p:sp>
        <p:nvSpPr>
          <p:cNvPr id="143" name="Shape 126"/>
          <p:cNvSpPr/>
          <p:nvPr/>
        </p:nvSpPr>
        <p:spPr>
          <a:xfrm>
            <a:off x="21671280" y="26929080"/>
            <a:ext cx="9966960" cy="502920"/>
          </a:xfrm>
          <a:prstGeom prst="roundRect">
            <a:avLst>
              <a:gd name="adj" fmla="val 7273"/>
            </a:avLst>
          </a:prstGeom>
          <a:solidFill>
            <a:srgbClr val="C1272D"/>
          </a:solidFill>
          <a:ln w="12700">
            <a:solidFill>
              <a:srgbClr val="C1272D"/>
            </a:solidFill>
            <a:prstDash val="solid"/>
          </a:ln>
        </p:spPr>
        <p:txBody>
          <a:bodyPr/>
          <a:lstStyle/>
          <a:p>
            <a:endParaRPr lang="en-US" sz="2400"/>
          </a:p>
        </p:txBody>
      </p:sp>
      <p:sp>
        <p:nvSpPr>
          <p:cNvPr id="144" name="Text 127"/>
          <p:cNvSpPr/>
          <p:nvPr/>
        </p:nvSpPr>
        <p:spPr>
          <a:xfrm>
            <a:off x="21872448" y="27020520"/>
            <a:ext cx="9564624" cy="393192"/>
          </a:xfrm>
          <a:prstGeom prst="rect">
            <a:avLst/>
          </a:prstGeom>
          <a:noFill/>
          <a:ln/>
        </p:spPr>
        <p:txBody>
          <a:bodyPr wrap="square" lIns="0" tIns="0" rIns="0" bIns="0" rtlCol="0" anchor="ctr"/>
          <a:lstStyle/>
          <a:p>
            <a:pPr marL="0" indent="0">
              <a:buNone/>
            </a:pPr>
            <a:r>
              <a:rPr lang="en-US" sz="2400" b="1">
                <a:solidFill>
                  <a:srgbClr val="FFFFFF"/>
                </a:solidFill>
                <a:latin typeface="Times New Roman" pitchFamily="34" charset="0"/>
                <a:ea typeface="Times New Roman" pitchFamily="34" charset="-122"/>
                <a:cs typeface="Times New Roman" pitchFamily="34" charset="-120"/>
              </a:rPr>
              <a:t>Latency Measurement</a:t>
            </a:r>
            <a:endParaRPr lang="en-US" sz="2400"/>
          </a:p>
        </p:txBody>
      </p:sp>
      <p:sp>
        <p:nvSpPr>
          <p:cNvPr id="145" name="Shape 128"/>
          <p:cNvSpPr/>
          <p:nvPr/>
        </p:nvSpPr>
        <p:spPr>
          <a:xfrm>
            <a:off x="32049720" y="26929080"/>
            <a:ext cx="9966960" cy="4297680"/>
          </a:xfrm>
          <a:prstGeom prst="roundRect">
            <a:avLst>
              <a:gd name="adj" fmla="val 851"/>
            </a:avLst>
          </a:prstGeom>
          <a:solidFill>
            <a:srgbClr val="F5F5F5"/>
          </a:solidFill>
          <a:ln w="12700">
            <a:solidFill>
              <a:srgbClr val="D7D7D7"/>
            </a:solidFill>
            <a:prstDash val="solid"/>
          </a:ln>
          <a:effectLst>
            <a:outerShdw blurRad="19050" dist="6350" dir="2700000" algn="bl" rotWithShape="0">
              <a:srgbClr val="000000">
                <a:alpha val="12000"/>
              </a:srgbClr>
            </a:outerShdw>
          </a:effectLst>
        </p:spPr>
        <p:txBody>
          <a:bodyPr/>
          <a:lstStyle/>
          <a:p>
            <a:endParaRPr lang="en-US" sz="3200"/>
          </a:p>
        </p:txBody>
      </p:sp>
      <p:sp>
        <p:nvSpPr>
          <p:cNvPr id="146" name="Shape 129"/>
          <p:cNvSpPr/>
          <p:nvPr/>
        </p:nvSpPr>
        <p:spPr>
          <a:xfrm>
            <a:off x="32049720" y="26929080"/>
            <a:ext cx="9966960" cy="502920"/>
          </a:xfrm>
          <a:prstGeom prst="roundRect">
            <a:avLst>
              <a:gd name="adj" fmla="val 7273"/>
            </a:avLst>
          </a:prstGeom>
          <a:solidFill>
            <a:srgbClr val="C1272D"/>
          </a:solidFill>
          <a:ln w="12700">
            <a:solidFill>
              <a:srgbClr val="C1272D"/>
            </a:solidFill>
            <a:prstDash val="solid"/>
          </a:ln>
        </p:spPr>
        <p:txBody>
          <a:bodyPr/>
          <a:lstStyle/>
          <a:p>
            <a:endParaRPr lang="en-US"/>
          </a:p>
        </p:txBody>
      </p:sp>
      <p:sp>
        <p:nvSpPr>
          <p:cNvPr id="147" name="Text 130"/>
          <p:cNvSpPr/>
          <p:nvPr/>
        </p:nvSpPr>
        <p:spPr>
          <a:xfrm>
            <a:off x="32250888" y="27020520"/>
            <a:ext cx="9564624" cy="393192"/>
          </a:xfrm>
          <a:prstGeom prst="rect">
            <a:avLst/>
          </a:prstGeom>
          <a:noFill/>
          <a:ln/>
        </p:spPr>
        <p:txBody>
          <a:bodyPr wrap="square" lIns="0" tIns="0" rIns="0" bIns="0" rtlCol="0" anchor="ctr"/>
          <a:lstStyle/>
          <a:p>
            <a:pPr marL="0" indent="0">
              <a:buNone/>
            </a:pPr>
            <a:r>
              <a:rPr lang="en-US" sz="2400" b="1">
                <a:solidFill>
                  <a:srgbClr val="FFFFFF"/>
                </a:solidFill>
                <a:latin typeface="Times New Roman" pitchFamily="34" charset="0"/>
                <a:ea typeface="Times New Roman" pitchFamily="34" charset="-122"/>
                <a:cs typeface="Times New Roman" pitchFamily="34" charset="-120"/>
              </a:rPr>
              <a:t>Current Status</a:t>
            </a:r>
            <a:endParaRPr lang="en-US" sz="2400"/>
          </a:p>
        </p:txBody>
      </p:sp>
      <p:sp>
        <p:nvSpPr>
          <p:cNvPr id="148" name="Text 131"/>
          <p:cNvSpPr/>
          <p:nvPr/>
        </p:nvSpPr>
        <p:spPr>
          <a:xfrm>
            <a:off x="3164801" y="27596592"/>
            <a:ext cx="2560320" cy="228600"/>
          </a:xfrm>
          <a:prstGeom prst="rect">
            <a:avLst/>
          </a:prstGeom>
          <a:noFill/>
          <a:ln/>
        </p:spPr>
        <p:txBody>
          <a:bodyPr wrap="square" lIns="0" tIns="0" rIns="0" bIns="0" rtlCol="0" anchor="t"/>
          <a:lstStyle/>
          <a:p>
            <a:pPr marL="0" indent="0">
              <a:buNone/>
            </a:pPr>
            <a:r>
              <a:rPr lang="en-US" sz="2000" b="1">
                <a:solidFill>
                  <a:srgbClr val="666666"/>
                </a:solidFill>
                <a:latin typeface="Times New Roman" pitchFamily="34" charset="0"/>
                <a:ea typeface="Times New Roman" pitchFamily="34" charset="-122"/>
                <a:cs typeface="Times New Roman" pitchFamily="34" charset="-120"/>
              </a:rPr>
              <a:t>Earlier model</a:t>
            </a:r>
            <a:endParaRPr lang="en-US" sz="2000"/>
          </a:p>
        </p:txBody>
      </p:sp>
      <p:sp>
        <p:nvSpPr>
          <p:cNvPr id="149" name="Text 132"/>
          <p:cNvSpPr/>
          <p:nvPr/>
        </p:nvSpPr>
        <p:spPr>
          <a:xfrm>
            <a:off x="3453150" y="27916632"/>
            <a:ext cx="2560320" cy="640080"/>
          </a:xfrm>
          <a:prstGeom prst="rect">
            <a:avLst/>
          </a:prstGeom>
          <a:noFill/>
          <a:ln/>
        </p:spPr>
        <p:txBody>
          <a:bodyPr wrap="square" lIns="0" tIns="0" rIns="0" bIns="0" rtlCol="0" anchor="t"/>
          <a:lstStyle/>
          <a:p>
            <a:pPr marL="0" indent="0">
              <a:buNone/>
            </a:pPr>
            <a:r>
              <a:rPr lang="en-US" sz="2600" b="1">
                <a:solidFill>
                  <a:srgbClr val="1E1E1E"/>
                </a:solidFill>
                <a:latin typeface="Times New Roman" pitchFamily="34" charset="0"/>
                <a:ea typeface="Times New Roman" pitchFamily="34" charset="-122"/>
                <a:cs typeface="Times New Roman" pitchFamily="34" charset="-120"/>
              </a:rPr>
              <a:t>0.65</a:t>
            </a:r>
            <a:endParaRPr lang="en-US" sz="2600"/>
          </a:p>
        </p:txBody>
      </p:sp>
      <p:sp>
        <p:nvSpPr>
          <p:cNvPr id="150" name="Text 133"/>
          <p:cNvSpPr/>
          <p:nvPr/>
        </p:nvSpPr>
        <p:spPr>
          <a:xfrm>
            <a:off x="6656832" y="27596592"/>
            <a:ext cx="2560320" cy="228600"/>
          </a:xfrm>
          <a:prstGeom prst="rect">
            <a:avLst/>
          </a:prstGeom>
          <a:noFill/>
          <a:ln/>
        </p:spPr>
        <p:txBody>
          <a:bodyPr wrap="square" lIns="0" tIns="0" rIns="0" bIns="0" rtlCol="0" anchor="t"/>
          <a:lstStyle/>
          <a:p>
            <a:pPr marL="0" indent="0">
              <a:buNone/>
            </a:pPr>
            <a:r>
              <a:rPr lang="en-US" b="1">
                <a:solidFill>
                  <a:srgbClr val="666666"/>
                </a:solidFill>
                <a:latin typeface="Times New Roman" pitchFamily="34" charset="0"/>
                <a:ea typeface="Times New Roman" pitchFamily="34" charset="-122"/>
                <a:cs typeface="Times New Roman" pitchFamily="34" charset="-120"/>
              </a:rPr>
              <a:t>Current model</a:t>
            </a:r>
            <a:endParaRPr lang="en-US"/>
          </a:p>
        </p:txBody>
      </p:sp>
      <p:sp>
        <p:nvSpPr>
          <p:cNvPr id="151" name="Text 134"/>
          <p:cNvSpPr/>
          <p:nvPr/>
        </p:nvSpPr>
        <p:spPr>
          <a:xfrm>
            <a:off x="7163292" y="27843480"/>
            <a:ext cx="2560320" cy="640080"/>
          </a:xfrm>
          <a:prstGeom prst="rect">
            <a:avLst/>
          </a:prstGeom>
          <a:noFill/>
          <a:ln/>
        </p:spPr>
        <p:txBody>
          <a:bodyPr wrap="square" lIns="0" tIns="0" rIns="0" bIns="0" rtlCol="0" anchor="t"/>
          <a:lstStyle/>
          <a:p>
            <a:pPr marL="0" indent="0">
              <a:buNone/>
            </a:pPr>
            <a:r>
              <a:rPr lang="en-US" sz="2600" b="1">
                <a:solidFill>
                  <a:srgbClr val="4E7D4A"/>
                </a:solidFill>
                <a:latin typeface="Times New Roman" pitchFamily="34" charset="0"/>
                <a:ea typeface="Times New Roman" pitchFamily="34" charset="-122"/>
                <a:cs typeface="Times New Roman" pitchFamily="34" charset="-120"/>
              </a:rPr>
              <a:t>0.90</a:t>
            </a:r>
            <a:endParaRPr lang="en-US" sz="2600"/>
          </a:p>
        </p:txBody>
      </p:sp>
      <p:sp>
        <p:nvSpPr>
          <p:cNvPr id="152" name="Shape 135"/>
          <p:cNvSpPr/>
          <p:nvPr/>
        </p:nvSpPr>
        <p:spPr>
          <a:xfrm>
            <a:off x="5267921" y="27825192"/>
            <a:ext cx="457200" cy="384048"/>
          </a:xfrm>
          <a:prstGeom prst="chevron">
            <a:avLst/>
          </a:prstGeom>
          <a:solidFill>
            <a:srgbClr val="F5A623"/>
          </a:solidFill>
          <a:ln w="12700">
            <a:solidFill>
              <a:srgbClr val="F5A623"/>
            </a:solidFill>
            <a:prstDash val="solid"/>
          </a:ln>
        </p:spPr>
        <p:txBody>
          <a:bodyPr/>
          <a:lstStyle/>
          <a:p>
            <a:endParaRPr lang="en-US"/>
          </a:p>
        </p:txBody>
      </p:sp>
      <p:sp>
        <p:nvSpPr>
          <p:cNvPr id="153" name="Shape 136"/>
          <p:cNvSpPr/>
          <p:nvPr/>
        </p:nvSpPr>
        <p:spPr>
          <a:xfrm>
            <a:off x="2138720" y="28659049"/>
            <a:ext cx="6527327" cy="803064"/>
          </a:xfrm>
          <a:prstGeom prst="roundRect">
            <a:avLst>
              <a:gd name="adj" fmla="val 5814"/>
            </a:avLst>
          </a:prstGeom>
          <a:solidFill>
            <a:srgbClr val="EAF4EA"/>
          </a:solidFill>
          <a:ln w="12700">
            <a:solidFill>
              <a:srgbClr val="4E7D4A"/>
            </a:solidFill>
            <a:prstDash val="solid"/>
          </a:ln>
        </p:spPr>
        <p:txBody>
          <a:bodyPr/>
          <a:lstStyle/>
          <a:p>
            <a:pPr algn="ctr"/>
            <a:endParaRPr lang="en-US"/>
          </a:p>
        </p:txBody>
      </p:sp>
      <p:sp>
        <p:nvSpPr>
          <p:cNvPr id="154" name="Text 137"/>
          <p:cNvSpPr/>
          <p:nvPr/>
        </p:nvSpPr>
        <p:spPr>
          <a:xfrm>
            <a:off x="2320856" y="28659049"/>
            <a:ext cx="6126480" cy="256032"/>
          </a:xfrm>
          <a:prstGeom prst="rect">
            <a:avLst/>
          </a:prstGeom>
          <a:noFill/>
          <a:ln/>
        </p:spPr>
        <p:txBody>
          <a:bodyPr wrap="square" lIns="0" tIns="0" rIns="0" bIns="0" rtlCol="0" anchor="t"/>
          <a:lstStyle/>
          <a:p>
            <a:pPr marL="0" indent="0" algn="ctr">
              <a:buNone/>
            </a:pPr>
            <a:r>
              <a:rPr lang="en-US" sz="2400" b="1">
                <a:solidFill>
                  <a:srgbClr val="4E7D4A"/>
                </a:solidFill>
                <a:latin typeface="Times New Roman" pitchFamily="34" charset="0"/>
                <a:ea typeface="Times New Roman" pitchFamily="34" charset="-122"/>
                <a:cs typeface="Times New Roman" pitchFamily="34" charset="-120"/>
              </a:rPr>
              <a:t>+25 percentage-point improvement in test accuracy</a:t>
            </a:r>
            <a:endParaRPr lang="en-US" sz="2400"/>
          </a:p>
        </p:txBody>
      </p:sp>
      <p:sp>
        <p:nvSpPr>
          <p:cNvPr id="155" name="Text 138"/>
          <p:cNvSpPr/>
          <p:nvPr/>
        </p:nvSpPr>
        <p:spPr>
          <a:xfrm>
            <a:off x="1188720" y="29672279"/>
            <a:ext cx="9614474" cy="1535307"/>
          </a:xfrm>
          <a:prstGeom prst="rect">
            <a:avLst/>
          </a:prstGeom>
          <a:noFill/>
          <a:ln/>
        </p:spPr>
        <p:txBody>
          <a:bodyPr wrap="square" lIns="1016" tIns="1016" rIns="1016" bIns="1016" rtlCol="0" anchor="t">
            <a:noAutofit/>
          </a:bodyPr>
          <a:lstStyle/>
          <a:p>
            <a:pPr marL="0" indent="0">
              <a:buNone/>
            </a:pPr>
            <a:r>
              <a:rPr lang="en-US" sz="3200">
                <a:solidFill>
                  <a:srgbClr val="1E1E1E"/>
                </a:solidFill>
                <a:latin typeface="Times New Roman" pitchFamily="34" charset="0"/>
                <a:ea typeface="Times New Roman" pitchFamily="34" charset="-122"/>
                <a:cs typeface="Times New Roman" pitchFamily="34" charset="-120"/>
              </a:rPr>
              <a:t>• Result shown is from the final-evaluation pipeline.</a:t>
            </a:r>
            <a:endParaRPr lang="en-US" sz="3200"/>
          </a:p>
          <a:p>
            <a:pPr marL="0" indent="0">
              <a:buNone/>
            </a:pPr>
            <a:r>
              <a:rPr lang="en-US" sz="3200">
                <a:solidFill>
                  <a:srgbClr val="1E1E1E"/>
                </a:solidFill>
                <a:latin typeface="Times New Roman" pitchFamily="34" charset="0"/>
                <a:ea typeface="Times New Roman" pitchFamily="34" charset="-122"/>
                <a:cs typeface="Times New Roman" pitchFamily="34" charset="-120"/>
              </a:rPr>
              <a:t>• Primary improvement driver: CNN + matched preprocessing + runtime stabilization.</a:t>
            </a:r>
            <a:endParaRPr lang="en-US" sz="3200"/>
          </a:p>
        </p:txBody>
      </p:sp>
      <p:sp>
        <p:nvSpPr>
          <p:cNvPr id="156" name="Text 139"/>
          <p:cNvSpPr/>
          <p:nvPr/>
        </p:nvSpPr>
        <p:spPr>
          <a:xfrm>
            <a:off x="11567160" y="27678888"/>
            <a:ext cx="9372600" cy="2468880"/>
          </a:xfrm>
          <a:prstGeom prst="rect">
            <a:avLst/>
          </a:prstGeom>
          <a:noFill/>
          <a:ln/>
        </p:spPr>
        <p:txBody>
          <a:bodyPr wrap="square" lIns="1016" tIns="1016" rIns="1016" bIns="1016" rtlCol="0" anchor="t">
            <a:normAutofit/>
          </a:bodyPr>
          <a:lstStyle/>
          <a:p>
            <a:pPr marL="0" indent="0">
              <a:buNone/>
            </a:pPr>
            <a:r>
              <a:rPr lang="en-US" sz="3200">
                <a:solidFill>
                  <a:srgbClr val="1E1E1E"/>
                </a:solidFill>
                <a:latin typeface="Times New Roman" pitchFamily="34" charset="0"/>
                <a:ea typeface="Times New Roman" pitchFamily="34" charset="-122"/>
                <a:cs typeface="Times New Roman" pitchFamily="34" charset="-120"/>
              </a:rPr>
              <a:t>• right_turn: precision ~0.98, F1 ~0.90</a:t>
            </a:r>
            <a:endParaRPr lang="en-US" sz="3200"/>
          </a:p>
          <a:p>
            <a:pPr marL="0" indent="0">
              <a:buNone/>
            </a:pPr>
            <a:r>
              <a:rPr lang="en-US" sz="3200">
                <a:solidFill>
                  <a:srgbClr val="1E1E1E"/>
                </a:solidFill>
                <a:latin typeface="Times New Roman" pitchFamily="34" charset="0"/>
                <a:ea typeface="Times New Roman" pitchFamily="34" charset="-122"/>
                <a:cs typeface="Times New Roman" pitchFamily="34" charset="-120"/>
              </a:rPr>
              <a:t>• left_turn: precision ~0.92, F1 ~0.89</a:t>
            </a:r>
            <a:endParaRPr lang="en-US" sz="3200"/>
          </a:p>
          <a:p>
            <a:pPr marL="0" indent="0">
              <a:buNone/>
            </a:pPr>
            <a:r>
              <a:rPr lang="en-US" sz="3200">
                <a:solidFill>
                  <a:srgbClr val="1E1E1E"/>
                </a:solidFill>
                <a:latin typeface="Times New Roman" pitchFamily="34" charset="0"/>
                <a:ea typeface="Times New Roman" pitchFamily="34" charset="-122"/>
                <a:cs typeface="Times New Roman" pitchFamily="34" charset="-120"/>
              </a:rPr>
              <a:t>• signal_left: F1 ~0.85</a:t>
            </a:r>
            <a:endParaRPr lang="en-US" sz="3200"/>
          </a:p>
          <a:p>
            <a:pPr marL="0" indent="0">
              <a:buNone/>
            </a:pPr>
            <a:r>
              <a:rPr lang="en-US" sz="3200">
                <a:solidFill>
                  <a:srgbClr val="1E1E1E"/>
                </a:solidFill>
                <a:latin typeface="Times New Roman" pitchFamily="34" charset="0"/>
                <a:ea typeface="Times New Roman" pitchFamily="34" charset="-122"/>
                <a:cs typeface="Times New Roman" pitchFamily="34" charset="-120"/>
              </a:rPr>
              <a:t>• neutral: balanced precision / recall ~0.73</a:t>
            </a:r>
            <a:endParaRPr lang="en-US" sz="3200"/>
          </a:p>
          <a:p>
            <a:pPr marL="0" indent="0">
              <a:buNone/>
            </a:pPr>
            <a:r>
              <a:rPr lang="en-US" sz="3200">
                <a:solidFill>
                  <a:srgbClr val="1E1E1E"/>
                </a:solidFill>
                <a:latin typeface="Times New Roman" pitchFamily="34" charset="0"/>
                <a:ea typeface="Times New Roman" pitchFamily="34" charset="-122"/>
                <a:cs typeface="Times New Roman" pitchFamily="34" charset="-120"/>
              </a:rPr>
              <a:t>• Main remaining gap: signal_right recall ~0.56</a:t>
            </a:r>
            <a:endParaRPr lang="en-US" sz="3200"/>
          </a:p>
        </p:txBody>
      </p:sp>
      <p:sp>
        <p:nvSpPr>
          <p:cNvPr id="157" name="Shape 140"/>
          <p:cNvSpPr/>
          <p:nvPr/>
        </p:nvSpPr>
        <p:spPr>
          <a:xfrm>
            <a:off x="11499426" y="30266639"/>
            <a:ext cx="9144000" cy="731520"/>
          </a:xfrm>
          <a:prstGeom prst="roundRect">
            <a:avLst>
              <a:gd name="adj" fmla="val 5000"/>
            </a:avLst>
          </a:prstGeom>
          <a:solidFill>
            <a:srgbClr val="FFF6E8"/>
          </a:solidFill>
          <a:ln w="12700">
            <a:solidFill>
              <a:srgbClr val="F5A623"/>
            </a:solidFill>
            <a:prstDash val="solid"/>
          </a:ln>
        </p:spPr>
        <p:txBody>
          <a:bodyPr/>
          <a:lstStyle/>
          <a:p>
            <a:endParaRPr lang="en-US" sz="2800"/>
          </a:p>
        </p:txBody>
      </p:sp>
      <p:sp>
        <p:nvSpPr>
          <p:cNvPr id="158" name="Text 141"/>
          <p:cNvSpPr/>
          <p:nvPr/>
        </p:nvSpPr>
        <p:spPr>
          <a:xfrm>
            <a:off x="11704320" y="30457986"/>
            <a:ext cx="8869680" cy="219456"/>
          </a:xfrm>
          <a:prstGeom prst="rect">
            <a:avLst/>
          </a:prstGeom>
          <a:noFill/>
          <a:ln/>
        </p:spPr>
        <p:txBody>
          <a:bodyPr wrap="square" lIns="0" tIns="0" rIns="0" bIns="0" rtlCol="0" anchor="t"/>
          <a:lstStyle/>
          <a:p>
            <a:pPr marL="0" indent="0" algn="ctr">
              <a:buNone/>
            </a:pPr>
            <a:r>
              <a:rPr lang="en-US" sz="2400" b="1">
                <a:solidFill>
                  <a:srgbClr val="9E1C21"/>
                </a:solidFill>
                <a:latin typeface="Times New Roman" pitchFamily="34" charset="0"/>
                <a:ea typeface="Times New Roman" pitchFamily="34" charset="-122"/>
                <a:cs typeface="Times New Roman" pitchFamily="34" charset="-120"/>
              </a:rPr>
              <a:t>Confusion-matrix driven retraining is the main next tuning path.</a:t>
            </a:r>
            <a:endParaRPr lang="en-US" sz="2400"/>
          </a:p>
        </p:txBody>
      </p:sp>
      <p:sp>
        <p:nvSpPr>
          <p:cNvPr id="159" name="Text 142"/>
          <p:cNvSpPr/>
          <p:nvPr/>
        </p:nvSpPr>
        <p:spPr>
          <a:xfrm>
            <a:off x="22037040" y="27797760"/>
            <a:ext cx="2377440" cy="731520"/>
          </a:xfrm>
          <a:prstGeom prst="rect">
            <a:avLst/>
          </a:prstGeom>
          <a:noFill/>
          <a:ln/>
        </p:spPr>
        <p:txBody>
          <a:bodyPr wrap="square" lIns="0" tIns="0" rIns="0" bIns="0" rtlCol="0" anchor="t"/>
          <a:lstStyle/>
          <a:p>
            <a:pPr marL="0" indent="0">
              <a:buNone/>
            </a:pPr>
            <a:r>
              <a:rPr lang="en-US" sz="2800" b="1">
                <a:solidFill>
                  <a:srgbClr val="9E1C21"/>
                </a:solidFill>
                <a:latin typeface="Times New Roman" pitchFamily="34" charset="0"/>
                <a:ea typeface="Times New Roman" pitchFamily="34" charset="-122"/>
                <a:cs typeface="Times New Roman" pitchFamily="34" charset="-120"/>
              </a:rPr>
              <a:t>3 ms</a:t>
            </a:r>
            <a:endParaRPr lang="en-US" sz="2800"/>
          </a:p>
        </p:txBody>
      </p:sp>
      <p:sp>
        <p:nvSpPr>
          <p:cNvPr id="160" name="Text 143"/>
          <p:cNvSpPr/>
          <p:nvPr/>
        </p:nvSpPr>
        <p:spPr>
          <a:xfrm>
            <a:off x="24277320" y="27715464"/>
            <a:ext cx="4206240" cy="256032"/>
          </a:xfrm>
          <a:prstGeom prst="rect">
            <a:avLst/>
          </a:prstGeom>
          <a:noFill/>
          <a:ln/>
        </p:spPr>
        <p:txBody>
          <a:bodyPr wrap="square" lIns="0" tIns="0" rIns="0" bIns="0" rtlCol="0" anchor="t"/>
          <a:lstStyle/>
          <a:p>
            <a:pPr marL="0" indent="0">
              <a:buNone/>
            </a:pPr>
            <a:r>
              <a:rPr lang="en-US" sz="2800" b="1">
                <a:solidFill>
                  <a:srgbClr val="1E1E1E"/>
                </a:solidFill>
                <a:latin typeface="Times New Roman" pitchFamily="34" charset="0"/>
                <a:ea typeface="Times New Roman" pitchFamily="34" charset="-122"/>
                <a:cs typeface="Times New Roman" pitchFamily="34" charset="-120"/>
              </a:rPr>
              <a:t>median processing latency</a:t>
            </a:r>
            <a:endParaRPr lang="en-US" sz="2800"/>
          </a:p>
        </p:txBody>
      </p:sp>
      <p:sp>
        <p:nvSpPr>
          <p:cNvPr id="161" name="Text 144"/>
          <p:cNvSpPr/>
          <p:nvPr/>
        </p:nvSpPr>
        <p:spPr>
          <a:xfrm>
            <a:off x="22064472" y="28497276"/>
            <a:ext cx="2377440" cy="594360"/>
          </a:xfrm>
          <a:prstGeom prst="rect">
            <a:avLst/>
          </a:prstGeom>
          <a:noFill/>
          <a:ln/>
        </p:spPr>
        <p:txBody>
          <a:bodyPr wrap="square" lIns="0" tIns="0" rIns="0" bIns="0" rtlCol="0" anchor="t"/>
          <a:lstStyle/>
          <a:p>
            <a:pPr marL="0" indent="0">
              <a:buNone/>
            </a:pPr>
            <a:r>
              <a:rPr lang="en-US" sz="2800" b="1">
                <a:solidFill>
                  <a:srgbClr val="4E7D4A"/>
                </a:solidFill>
                <a:latin typeface="Times New Roman" pitchFamily="34" charset="0"/>
                <a:ea typeface="Times New Roman" pitchFamily="34" charset="-122"/>
                <a:cs typeface="Times New Roman" pitchFamily="34" charset="-120"/>
              </a:rPr>
              <a:t>4 ms</a:t>
            </a:r>
            <a:endParaRPr lang="en-US" sz="2800"/>
          </a:p>
        </p:txBody>
      </p:sp>
      <p:sp>
        <p:nvSpPr>
          <p:cNvPr id="162" name="Text 145"/>
          <p:cNvSpPr/>
          <p:nvPr/>
        </p:nvSpPr>
        <p:spPr>
          <a:xfrm>
            <a:off x="24158448" y="28399878"/>
            <a:ext cx="4389120" cy="256032"/>
          </a:xfrm>
          <a:prstGeom prst="rect">
            <a:avLst/>
          </a:prstGeom>
          <a:noFill/>
          <a:ln/>
        </p:spPr>
        <p:txBody>
          <a:bodyPr wrap="square" lIns="0" tIns="0" rIns="0" bIns="0" rtlCol="0" anchor="t"/>
          <a:lstStyle/>
          <a:p>
            <a:pPr marL="0" indent="0">
              <a:buNone/>
            </a:pPr>
            <a:r>
              <a:rPr lang="en-US" sz="2800" b="1">
                <a:solidFill>
                  <a:srgbClr val="1E1E1E"/>
                </a:solidFill>
                <a:latin typeface="Times New Roman" pitchFamily="34" charset="0"/>
                <a:ea typeface="Times New Roman" pitchFamily="34" charset="-122"/>
                <a:cs typeface="Times New Roman" pitchFamily="34" charset="-120"/>
              </a:rPr>
              <a:t>p95 latency in the realtime loop</a:t>
            </a:r>
            <a:endParaRPr lang="en-US" sz="2800"/>
          </a:p>
        </p:txBody>
      </p:sp>
      <p:sp>
        <p:nvSpPr>
          <p:cNvPr id="163" name="Text 146"/>
          <p:cNvSpPr/>
          <p:nvPr/>
        </p:nvSpPr>
        <p:spPr>
          <a:xfrm>
            <a:off x="21945600" y="29192220"/>
            <a:ext cx="9326880" cy="1143000"/>
          </a:xfrm>
          <a:prstGeom prst="rect">
            <a:avLst/>
          </a:prstGeom>
          <a:noFill/>
          <a:ln/>
        </p:spPr>
        <p:txBody>
          <a:bodyPr wrap="square" lIns="1016" tIns="1016" rIns="1016" bIns="1016" rtlCol="0" anchor="t">
            <a:noAutofit/>
          </a:bodyPr>
          <a:lstStyle/>
          <a:p>
            <a:pPr marL="0" indent="0">
              <a:buNone/>
            </a:pPr>
            <a:r>
              <a:rPr lang="en-US" sz="3200">
                <a:solidFill>
                  <a:srgbClr val="1E1E1E"/>
                </a:solidFill>
                <a:latin typeface="Times New Roman" pitchFamily="34" charset="0"/>
                <a:ea typeface="Times New Roman" pitchFamily="34" charset="-122"/>
                <a:cs typeface="Times New Roman" pitchFamily="34" charset="-120"/>
              </a:rPr>
              <a:t>• Includes filtering, windowing, normalization, CNN forward pass, and smoothing.</a:t>
            </a:r>
            <a:endParaRPr lang="en-US" sz="3200"/>
          </a:p>
          <a:p>
            <a:pPr marL="0" indent="0">
              <a:buNone/>
            </a:pPr>
            <a:r>
              <a:rPr lang="en-US" sz="3200">
                <a:solidFill>
                  <a:srgbClr val="1E1E1E"/>
                </a:solidFill>
                <a:latin typeface="Times New Roman" pitchFamily="34" charset="0"/>
                <a:ea typeface="Times New Roman" pitchFamily="34" charset="-122"/>
                <a:cs typeface="Times New Roman" pitchFamily="34" charset="-120"/>
              </a:rPr>
              <a:t>• Excludes hardware acquisition / wireless transmission delay, measured separately later.</a:t>
            </a:r>
            <a:endParaRPr lang="en-US" sz="3200"/>
          </a:p>
        </p:txBody>
      </p:sp>
      <p:sp>
        <p:nvSpPr>
          <p:cNvPr id="164" name="Shape 147"/>
          <p:cNvSpPr/>
          <p:nvPr/>
        </p:nvSpPr>
        <p:spPr>
          <a:xfrm>
            <a:off x="32369760" y="27678888"/>
            <a:ext cx="256032" cy="256032"/>
          </a:xfrm>
          <a:prstGeom prst="roundRect">
            <a:avLst>
              <a:gd name="adj" fmla="val 14286"/>
            </a:avLst>
          </a:prstGeom>
          <a:solidFill>
            <a:srgbClr val="EAF4EA"/>
          </a:solidFill>
          <a:ln w="12700">
            <a:solidFill>
              <a:srgbClr val="4E7D4A"/>
            </a:solidFill>
            <a:prstDash val="solid"/>
          </a:ln>
        </p:spPr>
        <p:txBody>
          <a:bodyPr/>
          <a:lstStyle/>
          <a:p>
            <a:endParaRPr lang="en-US"/>
          </a:p>
        </p:txBody>
      </p:sp>
      <p:sp>
        <p:nvSpPr>
          <p:cNvPr id="165" name="Text 148"/>
          <p:cNvSpPr/>
          <p:nvPr/>
        </p:nvSpPr>
        <p:spPr>
          <a:xfrm>
            <a:off x="32397192" y="27683460"/>
            <a:ext cx="201168" cy="182880"/>
          </a:xfrm>
          <a:prstGeom prst="rect">
            <a:avLst/>
          </a:prstGeom>
          <a:noFill/>
          <a:ln/>
        </p:spPr>
        <p:txBody>
          <a:bodyPr wrap="square" lIns="0" tIns="0" rIns="0" bIns="0" rtlCol="0" anchor="t"/>
          <a:lstStyle/>
          <a:p>
            <a:pPr marL="0" indent="0" algn="ctr">
              <a:buNone/>
            </a:pPr>
            <a:r>
              <a:rPr lang="en-US" sz="1240" b="1">
                <a:solidFill>
                  <a:srgbClr val="4E7D4A"/>
                </a:solidFill>
                <a:latin typeface="Times New Roman" pitchFamily="34" charset="0"/>
                <a:ea typeface="Times New Roman" pitchFamily="34" charset="-122"/>
                <a:cs typeface="Times New Roman" pitchFamily="34" charset="-120"/>
              </a:rPr>
              <a:t>✓</a:t>
            </a:r>
            <a:endParaRPr lang="en-US" sz="1240"/>
          </a:p>
        </p:txBody>
      </p:sp>
      <p:sp>
        <p:nvSpPr>
          <p:cNvPr id="166" name="Text 149"/>
          <p:cNvSpPr/>
          <p:nvPr/>
        </p:nvSpPr>
        <p:spPr>
          <a:xfrm>
            <a:off x="32753808" y="27651456"/>
            <a:ext cx="8778240" cy="292608"/>
          </a:xfrm>
          <a:prstGeom prst="rect">
            <a:avLst/>
          </a:prstGeom>
          <a:noFill/>
          <a:ln/>
        </p:spPr>
        <p:txBody>
          <a:bodyPr wrap="square" lIns="0" tIns="0" rIns="0" bIns="0" rtlCol="0" anchor="t"/>
          <a:lstStyle/>
          <a:p>
            <a:pPr marL="0" indent="0">
              <a:buNone/>
            </a:pPr>
            <a:r>
              <a:rPr lang="en-US" sz="3200">
                <a:solidFill>
                  <a:srgbClr val="1E1E1E"/>
                </a:solidFill>
                <a:latin typeface="Times New Roman" pitchFamily="34" charset="0"/>
                <a:ea typeface="Times New Roman" pitchFamily="34" charset="-122"/>
                <a:cs typeface="Times New Roman" pitchFamily="34" charset="-120"/>
              </a:rPr>
              <a:t>Strict-layout data collection working</a:t>
            </a:r>
            <a:endParaRPr lang="en-US" sz="3200"/>
          </a:p>
        </p:txBody>
      </p:sp>
      <p:sp>
        <p:nvSpPr>
          <p:cNvPr id="167" name="Shape 150"/>
          <p:cNvSpPr/>
          <p:nvPr/>
        </p:nvSpPr>
        <p:spPr>
          <a:xfrm>
            <a:off x="32369760" y="28254960"/>
            <a:ext cx="256032" cy="256032"/>
          </a:xfrm>
          <a:prstGeom prst="roundRect">
            <a:avLst>
              <a:gd name="adj" fmla="val 14286"/>
            </a:avLst>
          </a:prstGeom>
          <a:solidFill>
            <a:srgbClr val="EAF4EA"/>
          </a:solidFill>
          <a:ln w="12700">
            <a:solidFill>
              <a:srgbClr val="4E7D4A"/>
            </a:solidFill>
            <a:prstDash val="solid"/>
          </a:ln>
        </p:spPr>
        <p:txBody>
          <a:bodyPr/>
          <a:lstStyle/>
          <a:p>
            <a:endParaRPr lang="en-US"/>
          </a:p>
        </p:txBody>
      </p:sp>
      <p:sp>
        <p:nvSpPr>
          <p:cNvPr id="168" name="Text 151"/>
          <p:cNvSpPr/>
          <p:nvPr/>
        </p:nvSpPr>
        <p:spPr>
          <a:xfrm>
            <a:off x="32397192" y="28259532"/>
            <a:ext cx="201168" cy="182880"/>
          </a:xfrm>
          <a:prstGeom prst="rect">
            <a:avLst/>
          </a:prstGeom>
          <a:noFill/>
          <a:ln/>
        </p:spPr>
        <p:txBody>
          <a:bodyPr wrap="square" lIns="0" tIns="0" rIns="0" bIns="0" rtlCol="0" anchor="t"/>
          <a:lstStyle/>
          <a:p>
            <a:pPr marL="0" indent="0" algn="ctr">
              <a:buNone/>
            </a:pPr>
            <a:r>
              <a:rPr lang="en-US" sz="1240" b="1">
                <a:solidFill>
                  <a:srgbClr val="4E7D4A"/>
                </a:solidFill>
                <a:latin typeface="Times New Roman" pitchFamily="34" charset="0"/>
                <a:ea typeface="Times New Roman" pitchFamily="34" charset="-122"/>
                <a:cs typeface="Times New Roman" pitchFamily="34" charset="-120"/>
              </a:rPr>
              <a:t>✓</a:t>
            </a:r>
            <a:endParaRPr lang="en-US" sz="1240"/>
          </a:p>
        </p:txBody>
      </p:sp>
      <p:sp>
        <p:nvSpPr>
          <p:cNvPr id="169" name="Text 152"/>
          <p:cNvSpPr/>
          <p:nvPr/>
        </p:nvSpPr>
        <p:spPr>
          <a:xfrm>
            <a:off x="32753808" y="28227528"/>
            <a:ext cx="8778240" cy="292608"/>
          </a:xfrm>
          <a:prstGeom prst="rect">
            <a:avLst/>
          </a:prstGeom>
          <a:noFill/>
          <a:ln/>
        </p:spPr>
        <p:txBody>
          <a:bodyPr wrap="square" lIns="0" tIns="0" rIns="0" bIns="0" rtlCol="0" anchor="t"/>
          <a:lstStyle/>
          <a:p>
            <a:pPr marL="0" indent="0">
              <a:buNone/>
            </a:pPr>
            <a:r>
              <a:rPr lang="en-US" sz="3200">
                <a:solidFill>
                  <a:srgbClr val="1E1E1E"/>
                </a:solidFill>
                <a:latin typeface="Times New Roman" pitchFamily="34" charset="0"/>
                <a:ea typeface="Times New Roman" pitchFamily="34" charset="-122"/>
                <a:cs typeface="Times New Roman" pitchFamily="34" charset="-120"/>
              </a:rPr>
              <a:t>Resampling, filtering, recalibration implemented</a:t>
            </a:r>
            <a:endParaRPr lang="en-US" sz="3200"/>
          </a:p>
        </p:txBody>
      </p:sp>
      <p:sp>
        <p:nvSpPr>
          <p:cNvPr id="170" name="Shape 153"/>
          <p:cNvSpPr/>
          <p:nvPr/>
        </p:nvSpPr>
        <p:spPr>
          <a:xfrm>
            <a:off x="32369760" y="28831032"/>
            <a:ext cx="256032" cy="256032"/>
          </a:xfrm>
          <a:prstGeom prst="roundRect">
            <a:avLst>
              <a:gd name="adj" fmla="val 14286"/>
            </a:avLst>
          </a:prstGeom>
          <a:solidFill>
            <a:srgbClr val="EAF4EA"/>
          </a:solidFill>
          <a:ln w="12700">
            <a:solidFill>
              <a:srgbClr val="4E7D4A"/>
            </a:solidFill>
            <a:prstDash val="solid"/>
          </a:ln>
        </p:spPr>
        <p:txBody>
          <a:bodyPr/>
          <a:lstStyle/>
          <a:p>
            <a:endParaRPr lang="en-US"/>
          </a:p>
        </p:txBody>
      </p:sp>
      <p:sp>
        <p:nvSpPr>
          <p:cNvPr id="171" name="Text 154"/>
          <p:cNvSpPr/>
          <p:nvPr/>
        </p:nvSpPr>
        <p:spPr>
          <a:xfrm>
            <a:off x="32397192" y="28835604"/>
            <a:ext cx="201168" cy="182880"/>
          </a:xfrm>
          <a:prstGeom prst="rect">
            <a:avLst/>
          </a:prstGeom>
          <a:noFill/>
          <a:ln/>
        </p:spPr>
        <p:txBody>
          <a:bodyPr wrap="square" lIns="0" tIns="0" rIns="0" bIns="0" rtlCol="0" anchor="t"/>
          <a:lstStyle/>
          <a:p>
            <a:pPr marL="0" indent="0" algn="ctr">
              <a:buNone/>
            </a:pPr>
            <a:r>
              <a:rPr lang="en-US" sz="1240" b="1">
                <a:solidFill>
                  <a:srgbClr val="4E7D4A"/>
                </a:solidFill>
                <a:latin typeface="Times New Roman" pitchFamily="34" charset="0"/>
                <a:ea typeface="Times New Roman" pitchFamily="34" charset="-122"/>
                <a:cs typeface="Times New Roman" pitchFamily="34" charset="-120"/>
              </a:rPr>
              <a:t>✓</a:t>
            </a:r>
            <a:endParaRPr lang="en-US" sz="1240"/>
          </a:p>
        </p:txBody>
      </p:sp>
      <p:sp>
        <p:nvSpPr>
          <p:cNvPr id="172" name="Text 155"/>
          <p:cNvSpPr/>
          <p:nvPr/>
        </p:nvSpPr>
        <p:spPr>
          <a:xfrm>
            <a:off x="32753808" y="28803600"/>
            <a:ext cx="8778240" cy="292608"/>
          </a:xfrm>
          <a:prstGeom prst="rect">
            <a:avLst/>
          </a:prstGeom>
          <a:noFill/>
          <a:ln/>
        </p:spPr>
        <p:txBody>
          <a:bodyPr wrap="square" lIns="0" tIns="0" rIns="0" bIns="0" rtlCol="0" anchor="t"/>
          <a:lstStyle/>
          <a:p>
            <a:pPr marL="0" indent="0">
              <a:buNone/>
            </a:pPr>
            <a:r>
              <a:rPr lang="en-US" sz="3200">
                <a:solidFill>
                  <a:srgbClr val="1E1E1E"/>
                </a:solidFill>
                <a:latin typeface="Times New Roman" pitchFamily="34" charset="0"/>
                <a:ea typeface="Times New Roman" pitchFamily="34" charset="-122"/>
                <a:cs typeface="Times New Roman" pitchFamily="34" charset="-120"/>
              </a:rPr>
              <a:t>GestureCNNv2 active for training</a:t>
            </a:r>
            <a:endParaRPr lang="en-US" sz="3200"/>
          </a:p>
        </p:txBody>
      </p:sp>
      <p:sp>
        <p:nvSpPr>
          <p:cNvPr id="173" name="Shape 156"/>
          <p:cNvSpPr/>
          <p:nvPr/>
        </p:nvSpPr>
        <p:spPr>
          <a:xfrm>
            <a:off x="32369760" y="29407104"/>
            <a:ext cx="256032" cy="256032"/>
          </a:xfrm>
          <a:prstGeom prst="roundRect">
            <a:avLst>
              <a:gd name="adj" fmla="val 14286"/>
            </a:avLst>
          </a:prstGeom>
          <a:solidFill>
            <a:srgbClr val="EAF4EA"/>
          </a:solidFill>
          <a:ln w="12700">
            <a:solidFill>
              <a:srgbClr val="4E7D4A"/>
            </a:solidFill>
            <a:prstDash val="solid"/>
          </a:ln>
        </p:spPr>
        <p:txBody>
          <a:bodyPr/>
          <a:lstStyle/>
          <a:p>
            <a:endParaRPr lang="en-US"/>
          </a:p>
        </p:txBody>
      </p:sp>
      <p:sp>
        <p:nvSpPr>
          <p:cNvPr id="174" name="Text 157"/>
          <p:cNvSpPr/>
          <p:nvPr/>
        </p:nvSpPr>
        <p:spPr>
          <a:xfrm>
            <a:off x="32397192" y="29411676"/>
            <a:ext cx="201168" cy="182880"/>
          </a:xfrm>
          <a:prstGeom prst="rect">
            <a:avLst/>
          </a:prstGeom>
          <a:noFill/>
          <a:ln/>
        </p:spPr>
        <p:txBody>
          <a:bodyPr wrap="square" lIns="0" tIns="0" rIns="0" bIns="0" rtlCol="0" anchor="t"/>
          <a:lstStyle/>
          <a:p>
            <a:pPr marL="0" indent="0" algn="ctr">
              <a:buNone/>
            </a:pPr>
            <a:r>
              <a:rPr lang="en-US" sz="1240" b="1">
                <a:solidFill>
                  <a:srgbClr val="4E7D4A"/>
                </a:solidFill>
                <a:latin typeface="Times New Roman" pitchFamily="34" charset="0"/>
                <a:ea typeface="Times New Roman" pitchFamily="34" charset="-122"/>
                <a:cs typeface="Times New Roman" pitchFamily="34" charset="-120"/>
              </a:rPr>
              <a:t>✓</a:t>
            </a:r>
            <a:endParaRPr lang="en-US" sz="1240"/>
          </a:p>
        </p:txBody>
      </p:sp>
      <p:sp>
        <p:nvSpPr>
          <p:cNvPr id="175" name="Text 158"/>
          <p:cNvSpPr/>
          <p:nvPr/>
        </p:nvSpPr>
        <p:spPr>
          <a:xfrm>
            <a:off x="32753808" y="29379672"/>
            <a:ext cx="8778240" cy="292608"/>
          </a:xfrm>
          <a:prstGeom prst="rect">
            <a:avLst/>
          </a:prstGeom>
          <a:noFill/>
          <a:ln/>
        </p:spPr>
        <p:txBody>
          <a:bodyPr wrap="square" lIns="0" tIns="0" rIns="0" bIns="0" rtlCol="0" anchor="t"/>
          <a:lstStyle/>
          <a:p>
            <a:pPr marL="0" indent="0">
              <a:buNone/>
            </a:pPr>
            <a:r>
              <a:rPr lang="en-US" sz="3200">
                <a:solidFill>
                  <a:srgbClr val="1E1E1E"/>
                </a:solidFill>
                <a:latin typeface="Times New Roman" pitchFamily="34" charset="0"/>
                <a:ea typeface="Times New Roman" pitchFamily="34" charset="-122"/>
                <a:cs typeface="Times New Roman" pitchFamily="34" charset="-120"/>
              </a:rPr>
              <a:t>Dual-arm strict realtime inference working</a:t>
            </a:r>
            <a:endParaRPr lang="en-US" sz="3200"/>
          </a:p>
        </p:txBody>
      </p:sp>
      <p:sp>
        <p:nvSpPr>
          <p:cNvPr id="176" name="Shape 159"/>
          <p:cNvSpPr/>
          <p:nvPr/>
        </p:nvSpPr>
        <p:spPr>
          <a:xfrm>
            <a:off x="32369760" y="29983176"/>
            <a:ext cx="256032" cy="256032"/>
          </a:xfrm>
          <a:prstGeom prst="roundRect">
            <a:avLst>
              <a:gd name="adj" fmla="val 14286"/>
            </a:avLst>
          </a:prstGeom>
          <a:solidFill>
            <a:srgbClr val="EAF4EA"/>
          </a:solidFill>
          <a:ln w="12700">
            <a:solidFill>
              <a:srgbClr val="4E7D4A"/>
            </a:solidFill>
            <a:prstDash val="solid"/>
          </a:ln>
        </p:spPr>
        <p:txBody>
          <a:bodyPr/>
          <a:lstStyle/>
          <a:p>
            <a:endParaRPr lang="en-US"/>
          </a:p>
        </p:txBody>
      </p:sp>
      <p:sp>
        <p:nvSpPr>
          <p:cNvPr id="177" name="Text 160"/>
          <p:cNvSpPr/>
          <p:nvPr/>
        </p:nvSpPr>
        <p:spPr>
          <a:xfrm>
            <a:off x="32397192" y="29987748"/>
            <a:ext cx="201168" cy="182880"/>
          </a:xfrm>
          <a:prstGeom prst="rect">
            <a:avLst/>
          </a:prstGeom>
          <a:noFill/>
          <a:ln/>
        </p:spPr>
        <p:txBody>
          <a:bodyPr wrap="square" lIns="0" tIns="0" rIns="0" bIns="0" rtlCol="0" anchor="t"/>
          <a:lstStyle/>
          <a:p>
            <a:pPr marL="0" indent="0" algn="ctr">
              <a:buNone/>
            </a:pPr>
            <a:r>
              <a:rPr lang="en-US" sz="1240" b="1">
                <a:solidFill>
                  <a:srgbClr val="4E7D4A"/>
                </a:solidFill>
                <a:latin typeface="Times New Roman" pitchFamily="34" charset="0"/>
                <a:ea typeface="Times New Roman" pitchFamily="34" charset="-122"/>
                <a:cs typeface="Times New Roman" pitchFamily="34" charset="-120"/>
              </a:rPr>
              <a:t>✓</a:t>
            </a:r>
            <a:endParaRPr lang="en-US" sz="1240"/>
          </a:p>
        </p:txBody>
      </p:sp>
      <p:sp>
        <p:nvSpPr>
          <p:cNvPr id="178" name="Text 161"/>
          <p:cNvSpPr/>
          <p:nvPr/>
        </p:nvSpPr>
        <p:spPr>
          <a:xfrm>
            <a:off x="32753808" y="29955744"/>
            <a:ext cx="8778240" cy="292608"/>
          </a:xfrm>
          <a:prstGeom prst="rect">
            <a:avLst/>
          </a:prstGeom>
          <a:noFill/>
          <a:ln/>
        </p:spPr>
        <p:txBody>
          <a:bodyPr wrap="square" lIns="0" tIns="0" rIns="0" bIns="0" rtlCol="0" anchor="t"/>
          <a:lstStyle/>
          <a:p>
            <a:pPr marL="0" indent="0">
              <a:buNone/>
            </a:pPr>
            <a:r>
              <a:rPr lang="en-US" sz="3200">
                <a:solidFill>
                  <a:srgbClr val="1E1E1E"/>
                </a:solidFill>
                <a:latin typeface="Times New Roman" pitchFamily="34" charset="0"/>
                <a:ea typeface="Times New Roman" pitchFamily="34" charset="-122"/>
                <a:cs typeface="Times New Roman" pitchFamily="34" charset="-120"/>
              </a:rPr>
              <a:t>CARLA lane-keeping and overtake logging active</a:t>
            </a:r>
            <a:endParaRPr lang="en-US" sz="3200"/>
          </a:p>
        </p:txBody>
      </p:sp>
      <p:sp>
        <p:nvSpPr>
          <p:cNvPr id="179" name="Shape 162"/>
          <p:cNvSpPr/>
          <p:nvPr/>
        </p:nvSpPr>
        <p:spPr>
          <a:xfrm>
            <a:off x="914400" y="31409640"/>
            <a:ext cx="42062400" cy="0"/>
          </a:xfrm>
          <a:prstGeom prst="line">
            <a:avLst/>
          </a:prstGeom>
          <a:noFill/>
          <a:ln w="12700">
            <a:solidFill>
              <a:srgbClr val="F5A623"/>
            </a:solidFill>
            <a:prstDash val="solid"/>
          </a:ln>
        </p:spPr>
        <p:txBody>
          <a:bodyPr/>
          <a:lstStyle/>
          <a:p>
            <a:endParaRPr lang="en-US"/>
          </a:p>
        </p:txBody>
      </p:sp>
      <p:sp>
        <p:nvSpPr>
          <p:cNvPr id="180" name="Text 163"/>
          <p:cNvSpPr/>
          <p:nvPr/>
        </p:nvSpPr>
        <p:spPr>
          <a:xfrm>
            <a:off x="914400" y="31565088"/>
            <a:ext cx="24871680" cy="320040"/>
          </a:xfrm>
          <a:prstGeom prst="rect">
            <a:avLst/>
          </a:prstGeom>
          <a:noFill/>
          <a:ln/>
        </p:spPr>
        <p:txBody>
          <a:bodyPr wrap="square" lIns="0" tIns="0" rIns="0" bIns="0" rtlCol="0" anchor="t"/>
          <a:lstStyle/>
          <a:p>
            <a:pPr marL="0" indent="0">
              <a:buNone/>
            </a:pPr>
            <a:r>
              <a:rPr lang="en-US" sz="2400">
                <a:solidFill>
                  <a:srgbClr val="666666"/>
                </a:solidFill>
                <a:latin typeface="Times New Roman" pitchFamily="34" charset="0"/>
                <a:ea typeface="Times New Roman" pitchFamily="34" charset="-122"/>
                <a:cs typeface="Times New Roman" pitchFamily="34" charset="-120"/>
              </a:rPr>
              <a:t>References: Basnet et al., Evaluating the Feasibility of EMG-Based Human-Machine Interfaces for Driving (2025); Delsys Trigno Avanti technical specifications (2024).</a:t>
            </a:r>
            <a:endParaRPr lang="en-US" sz="2400"/>
          </a:p>
        </p:txBody>
      </p:sp>
      <p:sp>
        <p:nvSpPr>
          <p:cNvPr id="181" name="Text 164"/>
          <p:cNvSpPr/>
          <p:nvPr/>
        </p:nvSpPr>
        <p:spPr>
          <a:xfrm>
            <a:off x="914400" y="31894272"/>
            <a:ext cx="16459200" cy="274320"/>
          </a:xfrm>
          <a:prstGeom prst="rect">
            <a:avLst/>
          </a:prstGeom>
          <a:noFill/>
          <a:ln/>
        </p:spPr>
        <p:txBody>
          <a:bodyPr wrap="square" lIns="0" tIns="0" rIns="0" bIns="0" rtlCol="0" anchor="t"/>
          <a:lstStyle/>
          <a:p>
            <a:pPr marL="0" indent="0">
              <a:buNone/>
            </a:pPr>
            <a:r>
              <a:rPr lang="en-US" sz="2400">
                <a:solidFill>
                  <a:srgbClr val="666666"/>
                </a:solidFill>
                <a:latin typeface="Times New Roman" pitchFamily="34" charset="0"/>
                <a:ea typeface="Times New Roman" pitchFamily="34" charset="-122"/>
                <a:cs typeface="Times New Roman" pitchFamily="34" charset="-120"/>
              </a:rPr>
              <a:t>Acknowledgments: HERO Lab, Dr. Junho Park, Mohamed Helaoui, Allynne Casilan.</a:t>
            </a:r>
            <a:endParaRPr lang="en-US" sz="2400"/>
          </a:p>
        </p:txBody>
      </p:sp>
      <p:sp>
        <p:nvSpPr>
          <p:cNvPr id="182" name="Text 165"/>
          <p:cNvSpPr/>
          <p:nvPr/>
        </p:nvSpPr>
        <p:spPr>
          <a:xfrm>
            <a:off x="26791920" y="31619952"/>
            <a:ext cx="16093440" cy="274320"/>
          </a:xfrm>
          <a:prstGeom prst="rect">
            <a:avLst/>
          </a:prstGeom>
          <a:noFill/>
          <a:ln/>
        </p:spPr>
        <p:txBody>
          <a:bodyPr wrap="square" lIns="0" tIns="0" rIns="0" bIns="0" rtlCol="0" anchor="t"/>
          <a:lstStyle/>
          <a:p>
            <a:pPr marL="0" indent="0" algn="r">
              <a:buNone/>
            </a:pPr>
            <a:r>
              <a:rPr lang="en-US" sz="2400" b="1">
                <a:solidFill>
                  <a:srgbClr val="9E1C21"/>
                </a:solidFill>
                <a:latin typeface="Times New Roman" pitchFamily="34" charset="0"/>
                <a:ea typeface="Times New Roman" pitchFamily="34" charset="-122"/>
                <a:cs typeface="Times New Roman" pitchFamily="34" charset="-120"/>
              </a:rPr>
              <a:t>Contact: igdaliah.abiabiola@ucalgary.ca  |  junho.park@ucalgary.ca</a:t>
            </a:r>
            <a:endParaRPr lang="en-US" sz="2400"/>
          </a:p>
        </p:txBody>
      </p:sp>
      <p:sp>
        <p:nvSpPr>
          <p:cNvPr id="183" name="Text 166"/>
          <p:cNvSpPr/>
          <p:nvPr/>
        </p:nvSpPr>
        <p:spPr>
          <a:xfrm>
            <a:off x="24935688" y="31956670"/>
            <a:ext cx="16367760" cy="256032"/>
          </a:xfrm>
          <a:prstGeom prst="rect">
            <a:avLst/>
          </a:prstGeom>
          <a:noFill/>
          <a:ln/>
        </p:spPr>
        <p:txBody>
          <a:bodyPr wrap="square" lIns="0" tIns="0" rIns="0" bIns="0" rtlCol="0" anchor="t"/>
          <a:lstStyle/>
          <a:p>
            <a:pPr marL="0" indent="0" algn="r">
              <a:buNone/>
            </a:pPr>
            <a:r>
              <a:rPr lang="en-US" sz="2800">
                <a:solidFill>
                  <a:srgbClr val="666666"/>
                </a:solidFill>
                <a:latin typeface="Times New Roman" pitchFamily="34" charset="0"/>
                <a:ea typeface="Times New Roman" pitchFamily="34" charset="-122"/>
                <a:cs typeface="Times New Roman" pitchFamily="34" charset="-120"/>
              </a:rPr>
              <a:t> 2026 Capstone Design Fair.</a:t>
            </a:r>
            <a:endParaRPr lang="en-US" sz="2800"/>
          </a:p>
        </p:txBody>
      </p:sp>
      <p:pic>
        <p:nvPicPr>
          <p:cNvPr id="1026" name="Picture 2" descr="Image">
            <a:extLst>
              <a:ext uri="{FF2B5EF4-FFF2-40B4-BE49-F238E27FC236}">
                <a16:creationId xmlns:a16="http://schemas.microsoft.com/office/drawing/2014/main" id="{78D2F20F-EBC5-7564-E1B6-8FF6B2D52F0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89796" y="16095740"/>
            <a:ext cx="10953728" cy="4816588"/>
          </a:xfrm>
          <a:prstGeom prst="rect">
            <a:avLst/>
          </a:prstGeom>
          <a:noFill/>
          <a:extLst>
            <a:ext uri="{909E8E84-426E-40DD-AFC4-6F175D3DCCD1}">
              <a14:hiddenFill xmlns:a14="http://schemas.microsoft.com/office/drawing/2010/main">
                <a:solidFill>
                  <a:srgbClr val="FFFFFF"/>
                </a:solidFill>
              </a14:hiddenFill>
            </a:ext>
          </a:extLst>
        </p:spPr>
      </p:pic>
      <p:sp>
        <p:nvSpPr>
          <p:cNvPr id="73" name="Text 66"/>
          <p:cNvSpPr/>
          <p:nvPr/>
        </p:nvSpPr>
        <p:spPr>
          <a:xfrm>
            <a:off x="2456334" y="17904917"/>
            <a:ext cx="1120140" cy="534924"/>
          </a:xfrm>
          <a:prstGeom prst="rect">
            <a:avLst/>
          </a:prstGeom>
          <a:solidFill>
            <a:srgbClr val="FFFFFF">
              <a:alpha val="88000"/>
            </a:srgbClr>
          </a:solidFill>
          <a:ln/>
        </p:spPr>
        <p:txBody>
          <a:bodyPr wrap="square" lIns="0" tIns="0" rIns="0" bIns="0" rtlCol="0" anchor="t"/>
          <a:lstStyle/>
          <a:p>
            <a:pPr marL="0" indent="0" algn="ctr">
              <a:buNone/>
            </a:pPr>
            <a:r>
              <a:rPr lang="en-US" sz="1600" b="1">
                <a:solidFill>
                  <a:srgbClr val="9E1C21"/>
                </a:solidFill>
                <a:latin typeface="Times New Roman" pitchFamily="34" charset="0"/>
                <a:ea typeface="Times New Roman" pitchFamily="34" charset="-122"/>
                <a:cs typeface="Times New Roman" pitchFamily="34" charset="-120"/>
              </a:rPr>
              <a:t>Delsys sensor suite</a:t>
            </a:r>
            <a:endParaRPr lang="en-US" sz="1600"/>
          </a:p>
        </p:txBody>
      </p:sp>
      <p:sp>
        <p:nvSpPr>
          <p:cNvPr id="75" name="Text 68"/>
          <p:cNvSpPr/>
          <p:nvPr/>
        </p:nvSpPr>
        <p:spPr>
          <a:xfrm>
            <a:off x="4752455" y="16766488"/>
            <a:ext cx="2286000" cy="545413"/>
          </a:xfrm>
          <a:prstGeom prst="rect">
            <a:avLst/>
          </a:prstGeom>
          <a:solidFill>
            <a:srgbClr val="FFFFFF">
              <a:alpha val="88000"/>
            </a:srgbClr>
          </a:solidFill>
          <a:ln/>
        </p:spPr>
        <p:txBody>
          <a:bodyPr wrap="square" lIns="0" tIns="0" rIns="0" bIns="0" rtlCol="0" anchor="t"/>
          <a:lstStyle/>
          <a:p>
            <a:pPr marL="0" indent="0" algn="ctr">
              <a:buNone/>
            </a:pPr>
            <a:r>
              <a:rPr lang="en-US" sz="1600" b="1">
                <a:solidFill>
                  <a:srgbClr val="9E1C21"/>
                </a:solidFill>
                <a:latin typeface="Times New Roman" pitchFamily="34" charset="0"/>
                <a:ea typeface="Times New Roman" pitchFamily="34" charset="-122"/>
                <a:cs typeface="Times New Roman" pitchFamily="34" charset="-120"/>
              </a:rPr>
              <a:t>CARL scenario display</a:t>
            </a:r>
            <a:endParaRPr lang="en-US" sz="1600"/>
          </a:p>
        </p:txBody>
      </p:sp>
      <p:sp>
        <p:nvSpPr>
          <p:cNvPr id="77" name="Text 70"/>
          <p:cNvSpPr/>
          <p:nvPr/>
        </p:nvSpPr>
        <p:spPr>
          <a:xfrm>
            <a:off x="8605674" y="19655992"/>
            <a:ext cx="1493830" cy="464417"/>
          </a:xfrm>
          <a:prstGeom prst="rect">
            <a:avLst/>
          </a:prstGeom>
          <a:solidFill>
            <a:srgbClr val="FFFFFF">
              <a:alpha val="88000"/>
            </a:srgbClr>
          </a:solidFill>
          <a:ln/>
        </p:spPr>
        <p:txBody>
          <a:bodyPr wrap="square" lIns="0" tIns="0" rIns="0" bIns="0" rtlCol="0" anchor="t"/>
          <a:lstStyle/>
          <a:p>
            <a:pPr marL="0" indent="0" algn="ctr">
              <a:buNone/>
            </a:pPr>
            <a:r>
              <a:rPr lang="en-US" sz="1600" b="1">
                <a:solidFill>
                  <a:srgbClr val="9E1C21"/>
                </a:solidFill>
                <a:latin typeface="Times New Roman" pitchFamily="34" charset="0"/>
                <a:ea typeface="Times New Roman" pitchFamily="34" charset="-122"/>
                <a:cs typeface="Times New Roman" pitchFamily="34" charset="-120"/>
              </a:rPr>
              <a:t>Steering rig + pedals</a:t>
            </a:r>
            <a:endParaRPr lang="en-US" sz="1600"/>
          </a:p>
        </p:txBody>
      </p:sp>
      <p:cxnSp>
        <p:nvCxnSpPr>
          <p:cNvPr id="186" name="Straight Arrow Connector 185">
            <a:extLst>
              <a:ext uri="{FF2B5EF4-FFF2-40B4-BE49-F238E27FC236}">
                <a16:creationId xmlns:a16="http://schemas.microsoft.com/office/drawing/2014/main" id="{5FC17652-7FF9-1914-7AE6-E87A13248720}"/>
              </a:ext>
            </a:extLst>
          </p:cNvPr>
          <p:cNvCxnSpPr/>
          <p:nvPr/>
        </p:nvCxnSpPr>
        <p:spPr>
          <a:xfrm>
            <a:off x="7154064" y="16903649"/>
            <a:ext cx="1116000" cy="108000"/>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87" name="Straight Arrow Connector 186">
            <a:extLst>
              <a:ext uri="{FF2B5EF4-FFF2-40B4-BE49-F238E27FC236}">
                <a16:creationId xmlns:a16="http://schemas.microsoft.com/office/drawing/2014/main" id="{FBA38C01-76EE-CFF0-1CD7-D7A774650D9F}"/>
              </a:ext>
            </a:extLst>
          </p:cNvPr>
          <p:cNvCxnSpPr>
            <a:cxnSpLocks/>
          </p:cNvCxnSpPr>
          <p:nvPr/>
        </p:nvCxnSpPr>
        <p:spPr>
          <a:xfrm>
            <a:off x="3313584" y="18602147"/>
            <a:ext cx="194310" cy="564642"/>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90" name="Straight Arrow Connector 189">
            <a:extLst>
              <a:ext uri="{FF2B5EF4-FFF2-40B4-BE49-F238E27FC236}">
                <a16:creationId xmlns:a16="http://schemas.microsoft.com/office/drawing/2014/main" id="{01C49DCD-C7F5-CBAA-8BE9-DE29CD66CB59}"/>
              </a:ext>
            </a:extLst>
          </p:cNvPr>
          <p:cNvCxnSpPr>
            <a:cxnSpLocks/>
          </p:cNvCxnSpPr>
          <p:nvPr/>
        </p:nvCxnSpPr>
        <p:spPr>
          <a:xfrm>
            <a:off x="6931152" y="18661224"/>
            <a:ext cx="1572768" cy="1102668"/>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24" name="Straight Arrow Connector 1023">
            <a:extLst>
              <a:ext uri="{FF2B5EF4-FFF2-40B4-BE49-F238E27FC236}">
                <a16:creationId xmlns:a16="http://schemas.microsoft.com/office/drawing/2014/main" id="{F2798611-B9F4-896D-7174-7C9DEE40B645}"/>
              </a:ext>
            </a:extLst>
          </p:cNvPr>
          <p:cNvCxnSpPr>
            <a:cxnSpLocks/>
          </p:cNvCxnSpPr>
          <p:nvPr/>
        </p:nvCxnSpPr>
        <p:spPr>
          <a:xfrm>
            <a:off x="8933688" y="19277045"/>
            <a:ext cx="529236" cy="378948"/>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27" name="Straight Arrow Connector 1026">
            <a:extLst>
              <a:ext uri="{FF2B5EF4-FFF2-40B4-BE49-F238E27FC236}">
                <a16:creationId xmlns:a16="http://schemas.microsoft.com/office/drawing/2014/main" id="{507C6E69-AE21-29FB-CEF0-ACF7E7BC1F7F}"/>
              </a:ext>
            </a:extLst>
          </p:cNvPr>
          <p:cNvCxnSpPr>
            <a:cxnSpLocks/>
          </p:cNvCxnSpPr>
          <p:nvPr/>
        </p:nvCxnSpPr>
        <p:spPr>
          <a:xfrm>
            <a:off x="3605049" y="17810327"/>
            <a:ext cx="691515" cy="512834"/>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sp>
        <p:nvSpPr>
          <p:cNvPr id="1028" name="Text 68">
            <a:extLst>
              <a:ext uri="{FF2B5EF4-FFF2-40B4-BE49-F238E27FC236}">
                <a16:creationId xmlns:a16="http://schemas.microsoft.com/office/drawing/2014/main" id="{B7B857E7-ECF8-2094-5A14-169BFDB7F7DE}"/>
              </a:ext>
            </a:extLst>
          </p:cNvPr>
          <p:cNvSpPr/>
          <p:nvPr/>
        </p:nvSpPr>
        <p:spPr>
          <a:xfrm>
            <a:off x="2191158" y="17197870"/>
            <a:ext cx="2286000" cy="545413"/>
          </a:xfrm>
          <a:prstGeom prst="rect">
            <a:avLst/>
          </a:prstGeom>
          <a:solidFill>
            <a:srgbClr val="FFFFFF">
              <a:alpha val="88000"/>
            </a:srgbClr>
          </a:solidFill>
          <a:ln/>
        </p:spPr>
        <p:txBody>
          <a:bodyPr wrap="square" lIns="0" tIns="0" rIns="0" bIns="0" rtlCol="0" anchor="t"/>
          <a:lstStyle/>
          <a:p>
            <a:pPr marL="0" indent="0" algn="ctr">
              <a:buNone/>
            </a:pPr>
            <a:r>
              <a:rPr lang="en-US" sz="1600" b="1">
                <a:solidFill>
                  <a:srgbClr val="9E1C21"/>
                </a:solidFill>
                <a:latin typeface="Times New Roman" pitchFamily="34" charset="0"/>
                <a:ea typeface="Times New Roman" pitchFamily="34" charset="-122"/>
                <a:cs typeface="Times New Roman" pitchFamily="34" charset="-120"/>
              </a:rPr>
              <a:t>Left Turn Gesture Command</a:t>
            </a:r>
            <a:endParaRPr lang="en-US" sz="1600"/>
          </a:p>
        </p:txBody>
      </p:sp>
      <p:sp>
        <p:nvSpPr>
          <p:cNvPr id="1032" name="Text 68">
            <a:extLst>
              <a:ext uri="{FF2B5EF4-FFF2-40B4-BE49-F238E27FC236}">
                <a16:creationId xmlns:a16="http://schemas.microsoft.com/office/drawing/2014/main" id="{D68B33C8-A978-2E46-3F74-7675C1E21AA0}"/>
              </a:ext>
            </a:extLst>
          </p:cNvPr>
          <p:cNvSpPr/>
          <p:nvPr/>
        </p:nvSpPr>
        <p:spPr>
          <a:xfrm>
            <a:off x="15319592" y="8827839"/>
            <a:ext cx="2286000" cy="237744"/>
          </a:xfrm>
          <a:prstGeom prst="rect">
            <a:avLst/>
          </a:prstGeom>
          <a:solidFill>
            <a:srgbClr val="FFFFFF">
              <a:alpha val="88000"/>
            </a:srgbClr>
          </a:solidFill>
          <a:ln/>
        </p:spPr>
        <p:txBody>
          <a:bodyPr wrap="square" lIns="0" tIns="0" rIns="0" bIns="0" rtlCol="0" anchor="t"/>
          <a:lstStyle/>
          <a:p>
            <a:pPr marL="0" indent="0" algn="ctr">
              <a:buNone/>
            </a:pPr>
            <a:r>
              <a:rPr lang="en-US" sz="1600" b="1">
                <a:solidFill>
                  <a:srgbClr val="9E1C21"/>
                </a:solidFill>
                <a:latin typeface="Times New Roman" pitchFamily="34" charset="0"/>
                <a:ea typeface="Times New Roman" pitchFamily="34" charset="-122"/>
                <a:cs typeface="Times New Roman" pitchFamily="34" charset="-120"/>
              </a:rPr>
              <a:t>Mini Sensor</a:t>
            </a:r>
            <a:endParaRPr lang="en-US" sz="1600"/>
          </a:p>
        </p:txBody>
      </p:sp>
      <p:sp>
        <p:nvSpPr>
          <p:cNvPr id="1033" name="Text 68">
            <a:extLst>
              <a:ext uri="{FF2B5EF4-FFF2-40B4-BE49-F238E27FC236}">
                <a16:creationId xmlns:a16="http://schemas.microsoft.com/office/drawing/2014/main" id="{59EEDA4B-8DEA-0E0F-1199-FB760DE2F9D0}"/>
              </a:ext>
            </a:extLst>
          </p:cNvPr>
          <p:cNvSpPr/>
          <p:nvPr/>
        </p:nvSpPr>
        <p:spPr>
          <a:xfrm>
            <a:off x="15782544" y="10707624"/>
            <a:ext cx="2286000" cy="237744"/>
          </a:xfrm>
          <a:prstGeom prst="rect">
            <a:avLst/>
          </a:prstGeom>
          <a:solidFill>
            <a:srgbClr val="FFFFFF">
              <a:alpha val="88000"/>
            </a:srgbClr>
          </a:solidFill>
          <a:ln/>
        </p:spPr>
        <p:txBody>
          <a:bodyPr wrap="square" lIns="0" tIns="0" rIns="0" bIns="0" rtlCol="0" anchor="t"/>
          <a:lstStyle/>
          <a:p>
            <a:pPr marL="0" indent="0" algn="ctr">
              <a:buNone/>
            </a:pPr>
            <a:r>
              <a:rPr lang="en-US" sz="1600" b="1">
                <a:solidFill>
                  <a:srgbClr val="9E1C21"/>
                </a:solidFill>
                <a:latin typeface="Times New Roman" pitchFamily="34" charset="0"/>
                <a:ea typeface="Times New Roman" pitchFamily="34" charset="-122"/>
                <a:cs typeface="Times New Roman" pitchFamily="34" charset="-120"/>
              </a:rPr>
              <a:t>Avanti sensor</a:t>
            </a:r>
            <a:endParaRPr lang="en-US" sz="1600"/>
          </a:p>
        </p:txBody>
      </p:sp>
      <p:sp>
        <p:nvSpPr>
          <p:cNvPr id="1034" name="Text 68">
            <a:extLst>
              <a:ext uri="{FF2B5EF4-FFF2-40B4-BE49-F238E27FC236}">
                <a16:creationId xmlns:a16="http://schemas.microsoft.com/office/drawing/2014/main" id="{6A2CB005-7150-D803-74A7-E600D4A40EC7}"/>
              </a:ext>
            </a:extLst>
          </p:cNvPr>
          <p:cNvSpPr/>
          <p:nvPr/>
        </p:nvSpPr>
        <p:spPr>
          <a:xfrm>
            <a:off x="19112900" y="10707624"/>
            <a:ext cx="2286000" cy="237744"/>
          </a:xfrm>
          <a:prstGeom prst="rect">
            <a:avLst/>
          </a:prstGeom>
          <a:solidFill>
            <a:srgbClr val="FFFFFF">
              <a:alpha val="88000"/>
            </a:srgbClr>
          </a:solidFill>
          <a:ln/>
        </p:spPr>
        <p:txBody>
          <a:bodyPr wrap="square" lIns="0" tIns="0" rIns="0" bIns="0" rtlCol="0" anchor="t"/>
          <a:lstStyle/>
          <a:p>
            <a:pPr marL="0" indent="0" algn="ctr">
              <a:buNone/>
            </a:pPr>
            <a:r>
              <a:rPr lang="en-US" sz="1600" b="1">
                <a:solidFill>
                  <a:srgbClr val="9E1C21"/>
                </a:solidFill>
                <a:latin typeface="Times New Roman" pitchFamily="34" charset="0"/>
                <a:ea typeface="Times New Roman" pitchFamily="34" charset="-122"/>
                <a:cs typeface="Times New Roman" pitchFamily="34" charset="-120"/>
              </a:rPr>
              <a:t>Maize Sensor</a:t>
            </a:r>
            <a:endParaRPr lang="en-US" sz="1600"/>
          </a:p>
        </p:txBody>
      </p:sp>
      <p:sp>
        <p:nvSpPr>
          <p:cNvPr id="1035" name="Text 68">
            <a:extLst>
              <a:ext uri="{FF2B5EF4-FFF2-40B4-BE49-F238E27FC236}">
                <a16:creationId xmlns:a16="http://schemas.microsoft.com/office/drawing/2014/main" id="{2B7D0A32-491C-FC49-0F57-E3BDB04A8FAD}"/>
              </a:ext>
            </a:extLst>
          </p:cNvPr>
          <p:cNvSpPr/>
          <p:nvPr/>
        </p:nvSpPr>
        <p:spPr>
          <a:xfrm>
            <a:off x="15782544" y="13368528"/>
            <a:ext cx="2286000" cy="237744"/>
          </a:xfrm>
          <a:prstGeom prst="rect">
            <a:avLst/>
          </a:prstGeom>
          <a:solidFill>
            <a:srgbClr val="FFFFFF">
              <a:alpha val="88000"/>
            </a:srgbClr>
          </a:solidFill>
          <a:ln/>
        </p:spPr>
        <p:txBody>
          <a:bodyPr wrap="square" lIns="0" tIns="0" rIns="0" bIns="0" rtlCol="0" anchor="t"/>
          <a:lstStyle/>
          <a:p>
            <a:pPr marL="0" indent="0" algn="ctr">
              <a:buNone/>
            </a:pPr>
            <a:r>
              <a:rPr lang="en-US" sz="1600" b="1">
                <a:solidFill>
                  <a:srgbClr val="9E1C21"/>
                </a:solidFill>
                <a:latin typeface="Times New Roman" pitchFamily="34" charset="0"/>
                <a:ea typeface="Times New Roman" pitchFamily="34" charset="-122"/>
                <a:cs typeface="Times New Roman" pitchFamily="34" charset="-120"/>
              </a:rPr>
              <a:t>Galileo Sensor</a:t>
            </a:r>
            <a:endParaRPr lang="en-US" sz="1600"/>
          </a:p>
        </p:txBody>
      </p:sp>
      <p:sp>
        <p:nvSpPr>
          <p:cNvPr id="1036" name="Text 68">
            <a:extLst>
              <a:ext uri="{FF2B5EF4-FFF2-40B4-BE49-F238E27FC236}">
                <a16:creationId xmlns:a16="http://schemas.microsoft.com/office/drawing/2014/main" id="{0B4D258D-DBC5-B661-993E-4ABC1F0CF540}"/>
              </a:ext>
            </a:extLst>
          </p:cNvPr>
          <p:cNvSpPr/>
          <p:nvPr/>
        </p:nvSpPr>
        <p:spPr>
          <a:xfrm>
            <a:off x="19636740" y="13368528"/>
            <a:ext cx="2286000" cy="237744"/>
          </a:xfrm>
          <a:prstGeom prst="rect">
            <a:avLst/>
          </a:prstGeom>
          <a:solidFill>
            <a:srgbClr val="FFFFFF">
              <a:alpha val="88000"/>
            </a:srgbClr>
          </a:solidFill>
          <a:ln/>
        </p:spPr>
        <p:txBody>
          <a:bodyPr wrap="square" lIns="0" tIns="0" rIns="0" bIns="0" rtlCol="0" anchor="t"/>
          <a:lstStyle/>
          <a:p>
            <a:pPr marL="0" indent="0" algn="ctr">
              <a:buNone/>
            </a:pPr>
            <a:r>
              <a:rPr lang="en-US" sz="1600" b="1">
                <a:solidFill>
                  <a:srgbClr val="9E1C21"/>
                </a:solidFill>
                <a:latin typeface="Times New Roman" pitchFamily="34" charset="0"/>
                <a:cs typeface="Times New Roman" pitchFamily="34" charset="-120"/>
              </a:rPr>
              <a:t>Maize Sensor</a:t>
            </a:r>
            <a:endParaRPr lang="en-US" sz="1600"/>
          </a:p>
        </p:txBody>
      </p:sp>
      <p:cxnSp>
        <p:nvCxnSpPr>
          <p:cNvPr id="1037" name="Straight Arrow Connector 1036">
            <a:extLst>
              <a:ext uri="{FF2B5EF4-FFF2-40B4-BE49-F238E27FC236}">
                <a16:creationId xmlns:a16="http://schemas.microsoft.com/office/drawing/2014/main" id="{6BDD8719-AD39-02C9-9A34-037800DB2970}"/>
              </a:ext>
            </a:extLst>
          </p:cNvPr>
          <p:cNvCxnSpPr>
            <a:cxnSpLocks/>
          </p:cNvCxnSpPr>
          <p:nvPr/>
        </p:nvCxnSpPr>
        <p:spPr>
          <a:xfrm>
            <a:off x="16464395" y="9131530"/>
            <a:ext cx="576696" cy="571118"/>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39" name="Straight Arrow Connector 1038">
            <a:extLst>
              <a:ext uri="{FF2B5EF4-FFF2-40B4-BE49-F238E27FC236}">
                <a16:creationId xmlns:a16="http://schemas.microsoft.com/office/drawing/2014/main" id="{CF3F0984-8806-0019-B5E5-0A170EE746E0}"/>
              </a:ext>
            </a:extLst>
          </p:cNvPr>
          <p:cNvCxnSpPr>
            <a:cxnSpLocks/>
          </p:cNvCxnSpPr>
          <p:nvPr/>
        </p:nvCxnSpPr>
        <p:spPr>
          <a:xfrm flipV="1">
            <a:off x="16930255" y="10093248"/>
            <a:ext cx="397315" cy="560897"/>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41" name="Straight Arrow Connector 1040">
            <a:extLst>
              <a:ext uri="{FF2B5EF4-FFF2-40B4-BE49-F238E27FC236}">
                <a16:creationId xmlns:a16="http://schemas.microsoft.com/office/drawing/2014/main" id="{3A850D8A-D7EB-57BF-C6AE-70599E35F8DB}"/>
              </a:ext>
            </a:extLst>
          </p:cNvPr>
          <p:cNvCxnSpPr>
            <a:cxnSpLocks/>
          </p:cNvCxnSpPr>
          <p:nvPr/>
        </p:nvCxnSpPr>
        <p:spPr>
          <a:xfrm>
            <a:off x="19548764" y="10163695"/>
            <a:ext cx="385156" cy="490450"/>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44" name="Straight Arrow Connector 1043">
            <a:extLst>
              <a:ext uri="{FF2B5EF4-FFF2-40B4-BE49-F238E27FC236}">
                <a16:creationId xmlns:a16="http://schemas.microsoft.com/office/drawing/2014/main" id="{A43D06FE-176D-9A68-7DD7-31EC0F058F33}"/>
              </a:ext>
            </a:extLst>
          </p:cNvPr>
          <p:cNvCxnSpPr>
            <a:cxnSpLocks/>
          </p:cNvCxnSpPr>
          <p:nvPr/>
        </p:nvCxnSpPr>
        <p:spPr>
          <a:xfrm>
            <a:off x="16929652" y="12796616"/>
            <a:ext cx="361342" cy="548323"/>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047" name="Straight Arrow Connector 1046">
            <a:extLst>
              <a:ext uri="{FF2B5EF4-FFF2-40B4-BE49-F238E27FC236}">
                <a16:creationId xmlns:a16="http://schemas.microsoft.com/office/drawing/2014/main" id="{E6A2D0EF-0B88-E52F-9FBF-7E1F85F95243}"/>
              </a:ext>
            </a:extLst>
          </p:cNvPr>
          <p:cNvCxnSpPr>
            <a:cxnSpLocks/>
          </p:cNvCxnSpPr>
          <p:nvPr/>
        </p:nvCxnSpPr>
        <p:spPr>
          <a:xfrm flipV="1">
            <a:off x="21139688" y="12526416"/>
            <a:ext cx="444724" cy="833123"/>
          </a:xfrm>
          <a:prstGeom prst="straightConnector1">
            <a:avLst/>
          </a:prstGeom>
          <a:ln w="63500">
            <a:headEnd type="triangle"/>
            <a:tailEnd type="triangle"/>
          </a:ln>
        </p:spPr>
        <p:style>
          <a:lnRef idx="1">
            <a:schemeClr val="accent6"/>
          </a:lnRef>
          <a:fillRef idx="0">
            <a:schemeClr val="accent6"/>
          </a:fillRef>
          <a:effectRef idx="0">
            <a:schemeClr val="accent6"/>
          </a:effectRef>
          <a:fontRef idx="minor">
            <a:schemeClr val="tx1"/>
          </a:fontRef>
        </p:style>
      </p:cxn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Investigation of Characteristics of Two-Handed Interactions with AI-Powered Electromyography (EMG) Armbands</dc:title>
  <dc:subject>Capstone poster</dc:subject>
  <dc:creator>OpenAI</dc:creator>
  <cp:revision>3</cp:revision>
  <dcterms:created xsi:type="dcterms:W3CDTF">2026-03-26T02:33:59Z</dcterms:created>
  <dcterms:modified xsi:type="dcterms:W3CDTF">2026-03-27T04:53:33Z</dcterms:modified>
</cp:coreProperties>
</file>